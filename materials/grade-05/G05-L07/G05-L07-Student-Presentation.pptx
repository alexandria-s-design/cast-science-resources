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029200" cy="50292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The Mushroom Network Under Your Feet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Trees Share Food and Warnings Through Underground 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G05-L07  |  5-LS2-1  |  5th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22860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440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097280"/>
            <a:ext cx="3657600" cy="530352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Learning Objectives &amp; Key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Identify mycorrhizal fungi as active participants in ecosystem matter cycling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Model how organic matter and moisture drive fungal network health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Explain how the fungal network enables nutrient transfer between trees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Predict what happens to forest health when the network is disrupted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Key Vocabulary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Mycorrhizal: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Related to fungi that form partnerships with plant roots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Mutualism: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 relationship where both organisms benefit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Hyphae: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Tiny thread-like structures that form fungal networks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Nutrient: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Substances that living things need to grow and survive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The 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How do underground conditions control how much trees can share with each other?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By the end of today, your model will answer this question!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474720"/>
            <a:ext cx="365760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Today We Build a Model!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L - LOCATE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Find the system's components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ESTABLISH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Map out how parts connect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V - VISUALIZE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Build your model in ModelIt!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EVALUATE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Run simulations and observe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R - REVISE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Improve your model with new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36576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1: Sort the Components!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4780"/>
                </a:solidFill>
              </a:defRPr>
            </a:pPr>
            <a:r>
              <a:t>Our system has 4 components: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Leaf Litter / Organic Matter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Dead leaves and material that feeds the fungal network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Soil Moisture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Water content that enables fungal survival and growth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Mycorrhizal Fungal Network Activity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active the underground threads are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Nutrient Transfer Between Trees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much food and signals move between trees</a:t>
            </a:r>
          </a:p>
          <a:p>
            <a:pPr>
              <a:spcBef>
                <a:spcPts val="1400"/>
              </a:spcBef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Sort them: EXTERNAL vs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2: Connect with Arrows!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Draw arrows to show HOW components affect each other:</a:t>
            </a:r>
          </a:p>
          <a:p>
            <a:pPr>
              <a:spcBef>
                <a:spcPts val="1400"/>
              </a:spcBef>
              <a:defRPr sz="1600" b="1">
                <a:solidFill>
                  <a:srgbClr val="228B22"/>
                </a:solidFill>
              </a:defRPr>
            </a:pPr>
            <a:r>
              <a:t>(+) POSITIVE Relationship</a:t>
            </a:r>
          </a:p>
          <a:p>
            <a:pPr>
              <a:defRPr sz="1400"/>
            </a:pPr>
            <a:r>
              <a:t>     When one goes UP, the other goes UP too</a:t>
            </a:r>
          </a:p>
          <a:p>
            <a:pPr>
              <a:spcBef>
                <a:spcPts val="1400"/>
              </a:spcBef>
              <a:defRPr sz="1600" b="1">
                <a:solidFill>
                  <a:srgbClr val="DC143C"/>
                </a:solidFill>
              </a:defRPr>
            </a:pPr>
            <a:r>
              <a:t>(-) NEGATIVE Relationship</a:t>
            </a:r>
          </a:p>
          <a:p>
            <a:pPr>
              <a:defRPr sz="1400"/>
            </a:pPr>
            <a:r>
              <a:t>     When one goes UP, the other goes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780"/>
                </a:solidFill>
              </a:defRPr>
            </a:pPr>
            <a:r>
              <a:t>Think About It:</a:t>
            </a:r>
          </a:p>
          <a:p>
            <a:pPr>
              <a:spcBef>
                <a:spcPts val="600"/>
              </a:spcBef>
              <a:defRPr sz="1500" i="1"/>
            </a:pPr>
            <a:r>
              <a:t>If fungi need food and water, what happens to the forest network during a drought?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286000"/>
            <a:ext cx="3474720" cy="29260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3: Run the Simulation!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Test these scenarios in ModelIt!</a:t>
            </a:r>
          </a:p>
          <a:p>
            <a:pPr>
              <a:spcBef>
                <a:spcPts val="1200"/>
              </a:spcBef>
              <a:defRPr sz="1600" b="1"/>
            </a:pPr>
            <a:r>
              <a:t>Healthy Forest</a:t>
            </a:r>
          </a:p>
          <a:p>
            <a:pPr>
              <a:defRPr sz="1400"/>
            </a:pPr>
            <a:r>
              <a:t>     Normal organic matter and soil moisture</a:t>
            </a:r>
          </a:p>
          <a:p>
            <a:pPr>
              <a:spcBef>
                <a:spcPts val="1200"/>
              </a:spcBef>
              <a:defRPr sz="1600" b="1"/>
            </a:pPr>
            <a:r>
              <a:t>Drought</a:t>
            </a:r>
          </a:p>
          <a:p>
            <a:pPr>
              <a:defRPr sz="1400"/>
            </a:pPr>
            <a:r>
              <a:t>     Lock Soil Moisture to 10%</a:t>
            </a:r>
          </a:p>
          <a:p>
            <a:pPr>
              <a:spcBef>
                <a:spcPts val="1200"/>
              </a:spcBef>
              <a:defRPr sz="1600" b="1"/>
            </a:pPr>
            <a:r>
              <a:t>Clear-Cut Aftermath</a:t>
            </a:r>
          </a:p>
          <a:p>
            <a:pPr>
              <a:defRPr sz="1400"/>
            </a:pPr>
            <a:r>
              <a:t>     Lock Leaf Litter to 0%</a:t>
            </a:r>
          </a:p>
          <a:p>
            <a:br/>
            <a:pPr>
              <a:defRPr sz="1600" b="1">
                <a:solidFill>
                  <a:srgbClr val="2E86AB"/>
                </a:solidFill>
              </a:defRPr>
            </a:pPr>
            <a:r>
              <a:t>Watch the activity graphs change!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920240"/>
            <a:ext cx="3931920" cy="38404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[ModelIt Platform Screenshot - Simulation Results]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What Did We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Our Model Showed Us: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Trees are connected underground through fungal threads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The network allows trees to share sugar and warnings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Drought isolates trees by shutting down the network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Replanting a cleared forest takes decades because the network must rebuild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E86AB"/>
                </a:solidFill>
              </a:defRPr>
            </a:pPr>
            <a:r>
              <a:t>Answer: Trees share nutrients through an underground 'internet' of fungal threads. This network needs both organic matter and moisture to function!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301752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Design Forest Recovery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/>
            </a:pPr>
            <a:r>
              <a:t>Design a plan to restore the mycorrhizal network in a cleared forest.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1A4780"/>
                </a:solidFill>
              </a:defRPr>
            </a:pPr>
            <a:r>
              <a:t>Think Like an Engineer:</a:t>
            </a:r>
          </a:p>
          <a:p>
            <a:pPr>
              <a:spcBef>
                <a:spcPts val="400"/>
              </a:spcBef>
              <a:defRPr sz="1300"/>
            </a:pPr>
            <a:r>
              <a:t>     *  How can you reintroduce mycorrhizal fungi to the soil?</a:t>
            </a:r>
          </a:p>
          <a:p>
            <a:pPr>
              <a:spcBef>
                <a:spcPts val="400"/>
              </a:spcBef>
              <a:defRPr sz="1300"/>
            </a:pPr>
            <a:r>
              <a:t>     *  What conditions do fungi need to establish themselves?</a:t>
            </a:r>
          </a:p>
          <a:p>
            <a:pPr>
              <a:spcBef>
                <a:spcPts val="400"/>
              </a:spcBef>
              <a:defRPr sz="1300"/>
            </a:pPr>
            <a:r>
              <a:t>     *  How can you maintain moisture and organic matter?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347472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868680"/>
          </a:xfrm>
          <a:prstGeom prst="rect">
            <a:avLst/>
          </a:prstGeom>
          <a:solidFill>
            <a:srgbClr val="1A237E"/>
          </a:solidFill>
        </p:spPr>
        <p:txBody>
          <a:bodyPr wrap="square" lIns="101600" tIns="50800">
            <a:spAutoFit/>
          </a:bodyPr>
          <a:lstStyle/>
          <a:p>
            <a:pPr>
              <a:defRPr sz="1100" b="1">
                <a:solidFill>
                  <a:srgbClr val="FFA500"/>
                </a:solidFill>
              </a:defRPr>
            </a:pPr>
            <a:r>
              <a:t>REAL CAREER CONNECTION:  </a:t>
            </a:r>
            <a:r>
              <a:rPr sz="1100" b="0">
                <a:solidFill>
                  <a:srgbClr val="FFFFFF"/>
                </a:solidFill>
              </a:rPr>
              <a:t>Mycologists and Forest Ecologists study the underground networks that hold forests together. They earn $55,000-$90,000/year.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