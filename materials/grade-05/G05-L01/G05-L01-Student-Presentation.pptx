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 rot="10800000">
            <a:off x="5943600" y="54864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rallelogram 5"/>
          <p:cNvSpPr/>
          <p:nvPr/>
        </p:nvSpPr>
        <p:spPr>
          <a:xfrm>
            <a:off x="4114800" y="612648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3657600" y="576072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1645920"/>
            <a:ext cx="2743200" cy="822960"/>
          </a:xfrm>
          <a:prstGeom prst="roundRect">
            <a:avLst/>
          </a:prstGeom>
          <a:solidFill>
            <a:srgbClr val="5DB7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37560" y="1874519"/>
            <a:ext cx="365760" cy="3657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783080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D1B2A"/>
                </a:solidFill>
                <a:latin typeface="Comic Sans MS"/>
              </a:defRPr>
            </a:pPr>
            <a:r>
              <a:t>ModelIt!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D1B2A"/>
                </a:solidFill>
              </a:defRPr>
            </a:pPr>
            <a:r>
              <a:t>Student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4780"/>
                </a:solidFill>
              </a:defRPr>
            </a:pPr>
            <a:r>
              <a:t>When Trees Become Matches</a:t>
            </a:r>
          </a:p>
          <a:p>
            <a:pPr algn="ctr">
              <a:defRPr sz="1800" i="1">
                <a:solidFill>
                  <a:srgbClr val="1A1A1A"/>
                </a:solidFill>
              </a:defRPr>
            </a:pPr>
            <a:r>
              <a:t>California's Burning Season and the Earth Systems That Fuel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0" y="4754880"/>
            <a:ext cx="36576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53035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California hillside showing dry golden grass and scattered trees during fire season. Warm sunset lighting. Culturally diverse community visible in distance.]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</a:defRPr>
            </a:pPr>
            <a:r>
              <a:t>The Big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A4780"/>
                </a:solidFill>
              </a:defRPr>
            </a:pPr>
            <a:r>
              <a:t>Why does California burn at the same time every year?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3657600"/>
            <a:ext cx="5486400" cy="25603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11680" y="4663440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Split image: Left shows green California hillside in spring (rainy season). Right shows same hillside golden/brown in fall (fire season). Diverse group of 5th graders pointing at both images, discussing the difference. 70% students of color.]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</a:defRPr>
            </a:pPr>
            <a:r>
              <a:t>Today We Will Build a Model!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>
                <a:solidFill>
                  <a:srgbClr val="1A1A1A"/>
                </a:solidFill>
              </a:defRPr>
            </a:pPr>
            <a:r>
              <a:t>1. Identify the COMPONENTS (parts) of the California fire system</a:t>
            </a:r>
          </a:p>
          <a:p>
            <a:pPr>
              <a:spcAft>
                <a:spcPts val="1800"/>
              </a:spcAft>
              <a:defRPr sz="2200">
                <a:solidFill>
                  <a:srgbClr val="1A1A1A"/>
                </a:solidFill>
              </a:defRPr>
            </a:pPr>
            <a:r>
              <a:t>2. Connect them with RELATIONSHIPS (how they affect each other)</a:t>
            </a:r>
          </a:p>
          <a:p>
            <a:pPr>
              <a:spcAft>
                <a:spcPts val="1800"/>
              </a:spcAft>
              <a:defRPr sz="2200">
                <a:solidFill>
                  <a:srgbClr val="1A1A1A"/>
                </a:solidFill>
              </a:defRPr>
            </a:pPr>
            <a:r>
              <a:t>3. Run SIMULATIONS to see what happens during drought</a:t>
            </a:r>
          </a:p>
          <a:p>
            <a:pPr>
              <a:spcAft>
                <a:spcPts val="1800"/>
              </a:spcAft>
              <a:defRPr sz="2200">
                <a:solidFill>
                  <a:srgbClr val="1A1A1A"/>
                </a:solidFill>
              </a:defRPr>
            </a:pPr>
            <a:r>
              <a:t>4. Make PREDICTIONS about fire conditions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</a:defRPr>
            </a:pPr>
            <a:r>
              <a:t>Activity 1: Sort the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Your components:</a:t>
            </a:r>
          </a:p>
          <a:p>
            <a:pPr>
              <a:defRPr sz="2000"/>
            </a:pPr>
            <a:r>
              <a:t>   * Rainfall</a:t>
            </a:r>
          </a:p>
          <a:p>
            <a:pPr>
              <a:defRPr sz="2000"/>
            </a:pPr>
            <a:r>
              <a:t>   * Dry Vegetation</a:t>
            </a:r>
          </a:p>
          <a:p>
            <a:pPr>
              <a:defRPr sz="2000"/>
            </a:pPr>
            <a:r>
              <a:t>   * Wind</a:t>
            </a:r>
          </a:p>
          <a:p>
            <a:pPr>
              <a:defRPr sz="2000"/>
            </a:pPr>
            <a:r>
              <a:t>   * Fire Spread</a:t>
            </a:r>
          </a:p>
          <a:p>
            <a:br/>
            <a:pPr>
              <a:defRPr sz="1800" i="1">
                <a:solidFill>
                  <a:srgbClr val="1A4780"/>
                </a:solidFill>
              </a:defRPr>
            </a:pPr>
            <a:r>
              <a:t>Sort them into two groups!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3657600" cy="32004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333756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Screenshot placeholder: ModelIt interface showing component sorting activity. Show the drag-and-drop area with Internal and External labels. Clean, educational style.]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</a:defRPr>
            </a:pPr>
            <a:r>
              <a:t>Activity 2: Connect with Arrows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Draw arrows to show HOW components affect each other:</a:t>
            </a:r>
          </a:p>
          <a:p>
            <a:pPr>
              <a:spcBef>
                <a:spcPts val="1200"/>
              </a:spcBef>
              <a:defRPr sz="1800"/>
            </a:pPr>
            <a:r>
              <a:t>(+) POSITIVE: When one goes UP, the other goes UP</a:t>
            </a:r>
          </a:p>
          <a:p>
            <a:pPr>
              <a:spcBef>
                <a:spcPts val="1200"/>
              </a:spcBef>
              <a:defRPr sz="1800"/>
            </a:pPr>
            <a:r>
              <a:t>(-) NEGATIVE: When one goes UP, the other goes DOWN</a:t>
            </a:r>
          </a:p>
          <a:p>
            <a:br/>
            <a:pPr>
              <a:defRPr sz="2000" b="1">
                <a:solidFill>
                  <a:srgbClr val="1A4780"/>
                </a:solidFill>
              </a:defRPr>
            </a:pPr>
            <a:r>
              <a:t>Think: When RAINFALL goes UP, does DRY VEGETATION go UP or DOWN?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572000"/>
            <a:ext cx="4572000" cy="164592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512064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Diagram showing: Rainfall --(-)--&gt; Dry Vegetation --(+)--&gt; Fire Spread &lt;--(+)-- Wind. Clean arrows with +/- labels. Educational style matching ModelIt aesthetic.]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</a:defRPr>
            </a:pPr>
            <a:r>
              <a:t>Activity 3: Run the Simulation!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Test these scenarios:</a:t>
            </a:r>
          </a:p>
          <a:p>
            <a:pPr>
              <a:spcBef>
                <a:spcPts val="1000"/>
              </a:spcBef>
              <a:defRPr sz="1800"/>
            </a:pPr>
            <a:r>
              <a:t>1. Drought: Turn RAINFALL OFF</a:t>
            </a:r>
          </a:p>
          <a:p>
            <a:pPr>
              <a:spcBef>
                <a:spcPts val="1000"/>
              </a:spcBef>
              <a:defRPr sz="1800"/>
            </a:pPr>
            <a:r>
              <a:t>2. Windy Day: Turn WIND ON</a:t>
            </a:r>
          </a:p>
          <a:p>
            <a:pPr>
              <a:spcBef>
                <a:spcPts val="1000"/>
              </a:spcBef>
              <a:defRPr sz="1800"/>
            </a:pPr>
            <a:r>
              <a:t>3. Fire Season: Both conditions!</a:t>
            </a:r>
          </a:p>
          <a:p>
            <a:br/>
            <a:pPr>
              <a:defRPr sz="2000" b="1">
                <a:solidFill>
                  <a:srgbClr val="1A4780"/>
                </a:solidFill>
              </a:defRPr>
            </a:pPr>
            <a:r>
              <a:t>Watch the graphs!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2011680"/>
            <a:ext cx="3931920" cy="36576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356616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Screenshot placeholder: ModelIt simulation results showing activity graphs. Display how Dry Vegetation and Fire Spread increase when Rainfall is OFF. Clear, educational visualization.]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Triangle 1"/>
          <p:cNvSpPr/>
          <p:nvPr/>
        </p:nvSpPr>
        <p:spPr>
          <a:xfrm>
            <a:off x="-457200" y="-457200"/>
            <a:ext cx="3657600" cy="1371600"/>
          </a:xfrm>
          <a:prstGeom prst="rtTriangle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286000" y="0"/>
            <a:ext cx="2743200" cy="731520"/>
          </a:xfrm>
          <a:prstGeom prst="parallelogram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3200400" y="457200"/>
            <a:ext cx="2286000" cy="365760"/>
          </a:xfrm>
          <a:prstGeom prst="parallelogram">
            <a:avLst/>
          </a:prstGeom>
          <a:solidFill>
            <a:srgbClr val="7EC8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D1B2A"/>
                </a:solidFill>
              </a:defRPr>
            </a:pPr>
            <a:r>
              <a:t>What Did We Discover?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400">
                <a:solidFill>
                  <a:srgbClr val="1A1A1A"/>
                </a:solidFill>
              </a:defRPr>
            </a:pPr>
            <a:r>
              <a:t>* California's dry season = more fire risk</a:t>
            </a:r>
          </a:p>
          <a:p>
            <a:pPr>
              <a:spcAft>
                <a:spcPts val="1600"/>
              </a:spcAft>
              <a:defRPr sz="2400">
                <a:solidFill>
                  <a:srgbClr val="1A1A1A"/>
                </a:solidFill>
              </a:defRPr>
            </a:pPr>
            <a:r>
              <a:t>* Drought makes vegetation into FUEL</a:t>
            </a:r>
          </a:p>
          <a:p>
            <a:pPr>
              <a:spcAft>
                <a:spcPts val="1600"/>
              </a:spcAft>
              <a:defRPr sz="2400">
                <a:solidFill>
                  <a:srgbClr val="1A1A1A"/>
                </a:solidFill>
              </a:defRPr>
            </a:pPr>
            <a:r>
              <a:t>* Wind helps fire SPREAD faster</a:t>
            </a:r>
          </a:p>
          <a:p>
            <a:pPr>
              <a:spcAft>
                <a:spcPts val="1600"/>
              </a:spcAft>
              <a:defRPr sz="2400">
                <a:solidFill>
                  <a:srgbClr val="1A1A1A"/>
                </a:solidFill>
              </a:defRPr>
            </a:pPr>
            <a:r>
              <a:t>* These Earth systems work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114800"/>
            <a:ext cx="2286000" cy="2286000"/>
          </a:xfrm>
          <a:prstGeom prst="roundRect">
            <a:avLst/>
          </a:prstGeom>
          <a:solidFill>
            <a:srgbClr val="F0F5FA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49834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i="1">
                <a:solidFill>
                  <a:srgbClr val="666666"/>
                </a:solidFill>
              </a:defRPr>
            </a:pPr>
            <a:r>
              <a:t>[IMAGE: Group of diverse 5th grade students (70% students of color) having an animated discussion, pointing at a laptop screen showing their model. Engaged, curious expressions.]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