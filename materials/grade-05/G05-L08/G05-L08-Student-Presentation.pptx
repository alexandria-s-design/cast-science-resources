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-457200" y="-457200"/>
            <a:ext cx="3657600" cy="1371600"/>
          </a:xfrm>
          <a:prstGeom prst="rtTriangle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2286000" y="0"/>
            <a:ext cx="2743200" cy="731520"/>
          </a:xfrm>
          <a:prstGeom prst="parallelogram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200400" y="457200"/>
            <a:ext cx="2286000" cy="365760"/>
          </a:xfrm>
          <a:prstGeom prst="parallelogram">
            <a:avLst/>
          </a:prstGeom>
          <a:solidFill>
            <a:srgbClr val="7EC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ight Triangle 4"/>
          <p:cNvSpPr/>
          <p:nvPr/>
        </p:nvSpPr>
        <p:spPr>
          <a:xfrm rot="10800000">
            <a:off x="5943600" y="5486400"/>
            <a:ext cx="3657600" cy="1371600"/>
          </a:xfrm>
          <a:prstGeom prst="rtTriangle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arallelogram 5"/>
          <p:cNvSpPr/>
          <p:nvPr/>
        </p:nvSpPr>
        <p:spPr>
          <a:xfrm>
            <a:off x="4114800" y="6126480"/>
            <a:ext cx="2743200" cy="731520"/>
          </a:xfrm>
          <a:prstGeom prst="parallelogram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arallelogram 6"/>
          <p:cNvSpPr/>
          <p:nvPr/>
        </p:nvSpPr>
        <p:spPr>
          <a:xfrm>
            <a:off x="3657600" y="5760720"/>
            <a:ext cx="2286000" cy="365760"/>
          </a:xfrm>
          <a:prstGeom prst="parallelogram">
            <a:avLst/>
          </a:prstGeom>
          <a:solidFill>
            <a:srgbClr val="7EC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" y="914400"/>
            <a:ext cx="5029200" cy="5029200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09728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E86AB"/>
                </a:solidFill>
                <a:latin typeface="Comic Sans MS"/>
              </a:defRPr>
            </a:pPr>
            <a:r>
              <a:t>ModelIt!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82880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D1B2A"/>
                </a:solidFill>
              </a:defRPr>
            </a:pPr>
            <a:r>
              <a:t>How Soap Actually Destroys Viruses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2004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i="1">
                <a:solidFill>
                  <a:srgbClr val="2E86AB"/>
                </a:solidFill>
              </a:defRPr>
            </a:pPr>
            <a:r>
              <a:t>The Chemical Reaction That Saves Millions of Lives Every Year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1148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G05-L08  |  5-PS1-4  |  5th Grade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5303520"/>
            <a:ext cx="2286000" cy="822960"/>
          </a:xfrm>
          <a:prstGeom prst="roundRect">
            <a:avLst/>
          </a:prstGeom>
          <a:solidFill>
            <a:srgbClr val="5DB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77240" y="5532120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19" y="5440680"/>
            <a:ext cx="1554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D1B2A"/>
                </a:solidFill>
                <a:latin typeface="Comic Sans MS"/>
              </a:defRPr>
            </a:pPr>
            <a:r>
              <a:t>ModelIt!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12080" y="1097280"/>
            <a:ext cx="3657600" cy="5303520"/>
          </a:xfrm>
          <a:prstGeom prst="roundRect">
            <a:avLst/>
          </a:prstGeom>
          <a:solidFill>
            <a:srgbClr val="F0F5FA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1/9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-457200" y="-457200"/>
            <a:ext cx="3657600" cy="1371600"/>
          </a:xfrm>
          <a:prstGeom prst="rtTriangle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2286000" y="0"/>
            <a:ext cx="2743200" cy="731520"/>
          </a:xfrm>
          <a:prstGeom prst="parallelogram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200400" y="457200"/>
            <a:ext cx="2286000" cy="365760"/>
          </a:xfrm>
          <a:prstGeom prst="parallelogram">
            <a:avLst/>
          </a:prstGeom>
          <a:solidFill>
            <a:srgbClr val="7EC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0D1B2A"/>
                </a:solidFill>
              </a:defRPr>
            </a:pPr>
            <a:r>
              <a:t>Learning Objectives &amp; Key Vocabulary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A4780"/>
                </a:solidFill>
              </a:defRPr>
            </a:pPr>
            <a:r>
              <a:t>Learning Goals</a:t>
            </a:r>
          </a:p>
          <a:p>
            <a:pPr>
              <a:spcBef>
                <a:spcPts val="800"/>
              </a:spcBef>
              <a:defRPr sz="1300">
                <a:solidFill>
                  <a:srgbClr val="1A1A2E"/>
                </a:solidFill>
              </a:defRPr>
            </a:pPr>
            <a:r>
              <a:t>  *  Explain that soap destroys viruses through chemical interaction, not just rinsing</a:t>
            </a:r>
          </a:p>
          <a:p>
            <a:pPr>
              <a:spcBef>
                <a:spcPts val="800"/>
              </a:spcBef>
              <a:defRPr sz="1300">
                <a:solidFill>
                  <a:srgbClr val="1A1A2E"/>
                </a:solidFill>
              </a:defRPr>
            </a:pPr>
            <a:r>
              <a:t>  *  Model how soap concentration and water determine effectiveness</a:t>
            </a:r>
          </a:p>
          <a:p>
            <a:pPr>
              <a:spcBef>
                <a:spcPts val="800"/>
              </a:spcBef>
              <a:defRPr sz="1300">
                <a:solidFill>
                  <a:srgbClr val="1A1A2E"/>
                </a:solidFill>
              </a:defRPr>
            </a:pPr>
            <a:r>
              <a:t>  *  Trace how soap effectiveness leads to virus membrane disruption</a:t>
            </a:r>
          </a:p>
          <a:p>
            <a:pPr>
              <a:spcBef>
                <a:spcPts val="800"/>
              </a:spcBef>
              <a:defRPr sz="1300">
                <a:solidFill>
                  <a:srgbClr val="1A1A2E"/>
                </a:solidFill>
              </a:defRPr>
            </a:pPr>
            <a:r>
              <a:t>  *  Apply the model to explain why proper handwashing technique matters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92024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A4780"/>
                </a:solidFill>
              </a:defRPr>
            </a:pPr>
            <a:r>
              <a:t>Key Vocabulary</a:t>
            </a:r>
          </a:p>
          <a:p>
            <a:pPr>
              <a:spcBef>
                <a:spcPts val="800"/>
              </a:spcBef>
              <a:defRPr sz="1300" b="1">
                <a:solidFill>
                  <a:srgbClr val="0D1B2A"/>
                </a:solidFill>
              </a:defRPr>
            </a:pPr>
            <a:r>
              <a:t>  Lipid: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     A fat or oil molecule that makes up virus outer coatings</a:t>
            </a:r>
          </a:p>
          <a:p>
            <a:pPr>
              <a:spcBef>
                <a:spcPts val="800"/>
              </a:spcBef>
              <a:defRPr sz="1300" b="1">
                <a:solidFill>
                  <a:srgbClr val="0D1B2A"/>
                </a:solidFill>
              </a:defRPr>
            </a:pPr>
            <a:r>
              <a:t>  Membrane: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     A thin layer that surrounds and protects a cell or virus</a:t>
            </a:r>
          </a:p>
          <a:p>
            <a:pPr>
              <a:spcBef>
                <a:spcPts val="800"/>
              </a:spcBef>
              <a:defRPr sz="1300" b="1">
                <a:solidFill>
                  <a:srgbClr val="0D1B2A"/>
                </a:solidFill>
              </a:defRPr>
            </a:pPr>
            <a:r>
              <a:t>  Amphiphilic: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     A molecule attracted to both water AND oil/fat</a:t>
            </a:r>
          </a:p>
          <a:p>
            <a:pPr>
              <a:spcBef>
                <a:spcPts val="800"/>
              </a:spcBef>
              <a:defRPr sz="1300" b="1">
                <a:solidFill>
                  <a:srgbClr val="0D1B2A"/>
                </a:solidFill>
              </a:defRPr>
            </a:pPr>
            <a:r>
              <a:t>  Pathogen: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     Any microorganism that can cause disease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2/9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-457200" y="-457200"/>
            <a:ext cx="3657600" cy="1371600"/>
          </a:xfrm>
          <a:prstGeom prst="rtTriangle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2286000" y="0"/>
            <a:ext cx="2743200" cy="731520"/>
          </a:xfrm>
          <a:prstGeom prst="parallelogram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200400" y="457200"/>
            <a:ext cx="2286000" cy="365760"/>
          </a:xfrm>
          <a:prstGeom prst="parallelogram">
            <a:avLst/>
          </a:prstGeom>
          <a:solidFill>
            <a:srgbClr val="7EC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0D1B2A"/>
                </a:solidFill>
              </a:defRPr>
            </a:pPr>
            <a:r>
              <a:t>The Big Question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20240"/>
            <a:ext cx="8229600" cy="1645920"/>
          </a:xfrm>
          <a:prstGeom prst="roundRect">
            <a:avLst/>
          </a:prstGeom>
          <a:solidFill>
            <a:srgbClr val="E8F4F8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7680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D1B2A"/>
                </a:solidFill>
              </a:defRPr>
            </a:pPr>
            <a:r>
              <a:t>How does soap destroy viruses at the molecular level?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749039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i="1">
                <a:solidFill>
                  <a:srgbClr val="2E86AB"/>
                </a:solidFill>
              </a:defRPr>
            </a:pPr>
            <a:r>
              <a:t>By the end of today, your model will answer this question!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12080" y="3474720"/>
            <a:ext cx="3657600" cy="3200400"/>
          </a:xfrm>
          <a:prstGeom prst="roundRect">
            <a:avLst/>
          </a:prstGeom>
          <a:solidFill>
            <a:srgbClr val="F0F5FA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3/9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-457200" y="-457200"/>
            <a:ext cx="3657600" cy="1371600"/>
          </a:xfrm>
          <a:prstGeom prst="rtTriangle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2286000" y="0"/>
            <a:ext cx="2743200" cy="731520"/>
          </a:xfrm>
          <a:prstGeom prst="parallelogram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200400" y="457200"/>
            <a:ext cx="2286000" cy="365760"/>
          </a:xfrm>
          <a:prstGeom prst="parallelogram">
            <a:avLst/>
          </a:prstGeom>
          <a:solidFill>
            <a:srgbClr val="7EC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0D1B2A"/>
                </a:solidFill>
              </a:defRPr>
            </a:pPr>
            <a:r>
              <a:t>Today We Build a Model!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defRPr sz="1800" b="1">
                <a:solidFill>
                  <a:srgbClr val="1A4780"/>
                </a:solidFill>
              </a:defRPr>
            </a:pPr>
            <a:r>
              <a:t>L - LOCATE</a:t>
            </a:r>
          </a:p>
          <a:p>
            <a:pPr>
              <a:defRPr sz="1400">
                <a:solidFill>
                  <a:srgbClr val="1A1A2E"/>
                </a:solidFill>
              </a:defRPr>
            </a:pPr>
            <a:r>
              <a:t>   Find the system's components</a:t>
            </a:r>
          </a:p>
          <a:p>
            <a:pPr>
              <a:spcBef>
                <a:spcPts val="1000"/>
              </a:spcBef>
              <a:defRPr sz="1800" b="1">
                <a:solidFill>
                  <a:srgbClr val="1A4780"/>
                </a:solidFill>
              </a:defRPr>
            </a:pPr>
            <a:r>
              <a:t>E - ESTABLISH</a:t>
            </a:r>
          </a:p>
          <a:p>
            <a:pPr>
              <a:defRPr sz="1400">
                <a:solidFill>
                  <a:srgbClr val="1A1A2E"/>
                </a:solidFill>
              </a:defRPr>
            </a:pPr>
            <a:r>
              <a:t>   Map out how parts connect</a:t>
            </a:r>
          </a:p>
          <a:p>
            <a:pPr>
              <a:spcBef>
                <a:spcPts val="1000"/>
              </a:spcBef>
              <a:defRPr sz="1800" b="1">
                <a:solidFill>
                  <a:srgbClr val="1A4780"/>
                </a:solidFill>
              </a:defRPr>
            </a:pPr>
            <a:r>
              <a:t>V - VISUALIZE</a:t>
            </a:r>
          </a:p>
          <a:p>
            <a:pPr>
              <a:defRPr sz="1400">
                <a:solidFill>
                  <a:srgbClr val="1A1A2E"/>
                </a:solidFill>
              </a:defRPr>
            </a:pPr>
            <a:r>
              <a:t>   Build your model in ModelIt!</a:t>
            </a:r>
          </a:p>
          <a:p>
            <a:pPr>
              <a:spcBef>
                <a:spcPts val="1000"/>
              </a:spcBef>
              <a:defRPr sz="1800" b="1">
                <a:solidFill>
                  <a:srgbClr val="1A4780"/>
                </a:solidFill>
              </a:defRPr>
            </a:pPr>
            <a:r>
              <a:t>E - EVALUATE</a:t>
            </a:r>
          </a:p>
          <a:p>
            <a:pPr>
              <a:defRPr sz="1400">
                <a:solidFill>
                  <a:srgbClr val="1A1A2E"/>
                </a:solidFill>
              </a:defRPr>
            </a:pPr>
            <a:r>
              <a:t>   Run simulations and observe</a:t>
            </a:r>
          </a:p>
          <a:p>
            <a:pPr>
              <a:spcBef>
                <a:spcPts val="1000"/>
              </a:spcBef>
              <a:defRPr sz="1800" b="1">
                <a:solidFill>
                  <a:srgbClr val="1A4780"/>
                </a:solidFill>
              </a:defRPr>
            </a:pPr>
            <a:r>
              <a:t>R - REVISE</a:t>
            </a:r>
          </a:p>
          <a:p>
            <a:pPr>
              <a:defRPr sz="1400">
                <a:solidFill>
                  <a:srgbClr val="1A1A2E"/>
                </a:solidFill>
              </a:defRPr>
            </a:pPr>
            <a:r>
              <a:t>   Improve your model with new evidence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0" y="1920240"/>
            <a:ext cx="3474720" cy="3657600"/>
          </a:xfrm>
          <a:prstGeom prst="roundRect">
            <a:avLst/>
          </a:prstGeom>
          <a:solidFill>
            <a:srgbClr val="F0F5FA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4/9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-457200" y="-457200"/>
            <a:ext cx="3657600" cy="1371600"/>
          </a:xfrm>
          <a:prstGeom prst="rtTriangle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2286000" y="0"/>
            <a:ext cx="2743200" cy="731520"/>
          </a:xfrm>
          <a:prstGeom prst="parallelogram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200400" y="457200"/>
            <a:ext cx="2286000" cy="365760"/>
          </a:xfrm>
          <a:prstGeom prst="parallelogram">
            <a:avLst/>
          </a:prstGeom>
          <a:solidFill>
            <a:srgbClr val="7EC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0D1B2A"/>
                </a:solidFill>
              </a:defRPr>
            </a:pPr>
            <a:r>
              <a:t>Activity 1: Sort the Components!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A4780"/>
                </a:solidFill>
              </a:defRPr>
            </a:pPr>
            <a:r>
              <a:t>Our system has 4 components:</a:t>
            </a:r>
          </a:p>
          <a:p>
            <a:pPr>
              <a:spcBef>
                <a:spcPts val="800"/>
              </a:spcBef>
              <a:defRPr sz="1600" b="1">
                <a:solidFill>
                  <a:srgbClr val="0D1B2A"/>
                </a:solidFill>
              </a:defRPr>
            </a:pPr>
            <a:r>
              <a:t>  *  Soap Concentration</a:t>
            </a:r>
          </a:p>
          <a:p>
            <a:pPr>
              <a:defRPr sz="1300">
                <a:solidFill>
                  <a:srgbClr val="1A1A2E"/>
                </a:solidFill>
              </a:defRPr>
            </a:pPr>
            <a:r>
              <a:t>     How much soap is being applied</a:t>
            </a:r>
          </a:p>
          <a:p>
            <a:pPr>
              <a:spcBef>
                <a:spcPts val="800"/>
              </a:spcBef>
              <a:defRPr sz="1600" b="1">
                <a:solidFill>
                  <a:srgbClr val="0D1B2A"/>
                </a:solidFill>
              </a:defRPr>
            </a:pPr>
            <a:r>
              <a:t>  *  Water Present</a:t>
            </a:r>
          </a:p>
          <a:p>
            <a:pPr>
              <a:defRPr sz="1300">
                <a:solidFill>
                  <a:srgbClr val="1A1A2E"/>
                </a:solidFill>
              </a:defRPr>
            </a:pPr>
            <a:r>
              <a:t>     Whether running water activates the soap</a:t>
            </a:r>
          </a:p>
          <a:p>
            <a:pPr>
              <a:spcBef>
                <a:spcPts val="800"/>
              </a:spcBef>
              <a:defRPr sz="1600" b="1">
                <a:solidFill>
                  <a:srgbClr val="0D1B2A"/>
                </a:solidFill>
              </a:defRPr>
            </a:pPr>
            <a:r>
              <a:t>  *  Soap Effectiveness</a:t>
            </a:r>
          </a:p>
          <a:p>
            <a:pPr>
              <a:defRPr sz="1300">
                <a:solidFill>
                  <a:srgbClr val="1A1A2E"/>
                </a:solidFill>
              </a:defRPr>
            </a:pPr>
            <a:r>
              <a:t>     How well soap can attack virus membranes</a:t>
            </a:r>
          </a:p>
          <a:p>
            <a:pPr>
              <a:spcBef>
                <a:spcPts val="800"/>
              </a:spcBef>
              <a:defRPr sz="1600" b="1">
                <a:solidFill>
                  <a:srgbClr val="0D1B2A"/>
                </a:solidFill>
              </a:defRPr>
            </a:pPr>
            <a:r>
              <a:t>  *  Virus Survival Rate</a:t>
            </a:r>
          </a:p>
          <a:p>
            <a:pPr>
              <a:defRPr sz="1300">
                <a:solidFill>
                  <a:srgbClr val="1A1A2E"/>
                </a:solidFill>
              </a:defRPr>
            </a:pPr>
            <a:r>
              <a:t>     Percentage of viruses surviving handwashing</a:t>
            </a:r>
          </a:p>
          <a:p>
            <a:pPr>
              <a:spcBef>
                <a:spcPts val="1400"/>
              </a:spcBef>
            </a:pPr>
          </a:p>
          <a:p>
            <a:pPr>
              <a:defRPr sz="1500" b="1">
                <a:solidFill>
                  <a:srgbClr val="E67E22"/>
                </a:solidFill>
              </a:defRPr>
            </a:pPr>
            <a:r>
              <a:t>Sort them: EXTERNAL vs INTERNAL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0" y="1920240"/>
            <a:ext cx="3474720" cy="4114800"/>
          </a:xfrm>
          <a:prstGeom prst="roundRect">
            <a:avLst/>
          </a:prstGeom>
          <a:solidFill>
            <a:srgbClr val="F0F5FA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5/9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-457200" y="-457200"/>
            <a:ext cx="3657600" cy="1371600"/>
          </a:xfrm>
          <a:prstGeom prst="rtTriangle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2286000" y="0"/>
            <a:ext cx="2743200" cy="731520"/>
          </a:xfrm>
          <a:prstGeom prst="parallelogram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200400" y="457200"/>
            <a:ext cx="2286000" cy="365760"/>
          </a:xfrm>
          <a:prstGeom prst="parallelogram">
            <a:avLst/>
          </a:prstGeom>
          <a:solidFill>
            <a:srgbClr val="7EC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0D1B2A"/>
                </a:solidFill>
              </a:defRPr>
            </a:pPr>
            <a:r>
              <a:t>Activity 2: Connect with Arrows!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/>
            </a:pPr>
            <a:r>
              <a:t>Draw arrows to show HOW components affect each other:</a:t>
            </a:r>
          </a:p>
          <a:p>
            <a:pPr>
              <a:spcBef>
                <a:spcPts val="1400"/>
              </a:spcBef>
              <a:defRPr sz="1600" b="1">
                <a:solidFill>
                  <a:srgbClr val="228B22"/>
                </a:solidFill>
              </a:defRPr>
            </a:pPr>
            <a:r>
              <a:t>(+) POSITIVE Relationship</a:t>
            </a:r>
          </a:p>
          <a:p>
            <a:pPr>
              <a:defRPr sz="1400"/>
            </a:pPr>
            <a:r>
              <a:t>     When one goes UP, the other goes UP too</a:t>
            </a:r>
          </a:p>
          <a:p>
            <a:pPr>
              <a:spcBef>
                <a:spcPts val="1400"/>
              </a:spcBef>
              <a:defRPr sz="1600" b="1">
                <a:solidFill>
                  <a:srgbClr val="DC143C"/>
                </a:solidFill>
              </a:defRPr>
            </a:pPr>
            <a:r>
              <a:t>(-) NEGATIVE Relationship</a:t>
            </a:r>
          </a:p>
          <a:p>
            <a:pPr>
              <a:defRPr sz="1400"/>
            </a:pPr>
            <a:r>
              <a:t>     When one goes UP, the other goes DOWN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75488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4780"/>
                </a:solidFill>
              </a:defRPr>
            </a:pPr>
            <a:r>
              <a:t>Think About It:</a:t>
            </a:r>
          </a:p>
          <a:p>
            <a:pPr>
              <a:spcBef>
                <a:spcPts val="600"/>
              </a:spcBef>
              <a:defRPr sz="1500" i="1"/>
            </a:pPr>
            <a:r>
              <a:t>Why would washing with just water be less effective than soap and water?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0" y="2286000"/>
            <a:ext cx="3474720" cy="2926080"/>
          </a:xfrm>
          <a:prstGeom prst="roundRect">
            <a:avLst/>
          </a:prstGeom>
          <a:solidFill>
            <a:srgbClr val="F0F5FA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6/9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-457200" y="-457200"/>
            <a:ext cx="3657600" cy="1371600"/>
          </a:xfrm>
          <a:prstGeom prst="rtTriangle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2286000" y="0"/>
            <a:ext cx="2743200" cy="731520"/>
          </a:xfrm>
          <a:prstGeom prst="parallelogram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200400" y="457200"/>
            <a:ext cx="2286000" cy="365760"/>
          </a:xfrm>
          <a:prstGeom prst="parallelogram">
            <a:avLst/>
          </a:prstGeom>
          <a:solidFill>
            <a:srgbClr val="7EC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0D1B2A"/>
                </a:solidFill>
              </a:defRPr>
            </a:pPr>
            <a:r>
              <a:t>Activity 3: Run the Simulation!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A4780"/>
                </a:solidFill>
              </a:defRPr>
            </a:pPr>
            <a:r>
              <a:t>Test these scenarios in ModelIt!</a:t>
            </a:r>
          </a:p>
          <a:p>
            <a:pPr>
              <a:spcBef>
                <a:spcPts val="1200"/>
              </a:spcBef>
              <a:defRPr sz="1600" b="1"/>
            </a:pPr>
            <a:r>
              <a:t>Water Only</a:t>
            </a:r>
          </a:p>
          <a:p>
            <a:pPr>
              <a:defRPr sz="1400"/>
            </a:pPr>
            <a:r>
              <a:t>     Soap at 0%, Water at 100%</a:t>
            </a:r>
          </a:p>
          <a:p>
            <a:pPr>
              <a:spcBef>
                <a:spcPts val="1200"/>
              </a:spcBef>
              <a:defRPr sz="1600" b="1"/>
            </a:pPr>
            <a:r>
              <a:t>Dry Soap</a:t>
            </a:r>
          </a:p>
          <a:p>
            <a:pPr>
              <a:defRPr sz="1400"/>
            </a:pPr>
            <a:r>
              <a:t>     Soap at 100%, Water at 0%</a:t>
            </a:r>
          </a:p>
          <a:p>
            <a:pPr>
              <a:spcBef>
                <a:spcPts val="1200"/>
              </a:spcBef>
              <a:defRPr sz="1600" b="1"/>
            </a:pPr>
            <a:r>
              <a:t>Proper Handwashing</a:t>
            </a:r>
          </a:p>
          <a:p>
            <a:pPr>
              <a:defRPr sz="1400"/>
            </a:pPr>
            <a:r>
              <a:t>     Both Soap and Water at high levels</a:t>
            </a:r>
          </a:p>
          <a:p>
            <a:br/>
            <a:pPr>
              <a:defRPr sz="1600" b="1">
                <a:solidFill>
                  <a:srgbClr val="2E86AB"/>
                </a:solidFill>
              </a:defRPr>
            </a:pPr>
            <a:r>
              <a:t>Watch the activity graphs change!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46320" y="1920240"/>
            <a:ext cx="3931920" cy="3840480"/>
          </a:xfrm>
          <a:prstGeom prst="roundRect">
            <a:avLst/>
          </a:prstGeom>
          <a:solidFill>
            <a:srgbClr val="F0F5FA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0" y="3657600"/>
            <a:ext cx="35661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666666"/>
                </a:solidFill>
              </a:defRPr>
            </a:pPr>
            <a:r>
              <a:t>[ModelIt Platform Screenshot - Simulation Results]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7/9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-457200" y="-457200"/>
            <a:ext cx="3657600" cy="1371600"/>
          </a:xfrm>
          <a:prstGeom prst="rtTriangle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2286000" y="0"/>
            <a:ext cx="2743200" cy="731520"/>
          </a:xfrm>
          <a:prstGeom prst="parallelogram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200400" y="457200"/>
            <a:ext cx="2286000" cy="365760"/>
          </a:xfrm>
          <a:prstGeom prst="parallelogram">
            <a:avLst/>
          </a:prstGeom>
          <a:solidFill>
            <a:srgbClr val="7EC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0D1B2A"/>
                </a:solidFill>
              </a:defRPr>
            </a:pPr>
            <a:r>
              <a:t>What Did We Discover?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A4780"/>
                </a:solidFill>
              </a:defRPr>
            </a:pPr>
            <a:r>
              <a:t>Our Model Showed Us:</a:t>
            </a:r>
          </a:p>
          <a:p>
            <a:pPr>
              <a:spcBef>
                <a:spcPts val="1000"/>
              </a:spcBef>
              <a:defRPr sz="1500">
                <a:solidFill>
                  <a:srgbClr val="1A1A2E"/>
                </a:solidFill>
              </a:defRPr>
            </a:pPr>
            <a:r>
              <a:t>  *  Soap DESTROYS viruses by breaking apart their lipid membranes</a:t>
            </a:r>
          </a:p>
          <a:p>
            <a:pPr>
              <a:spcBef>
                <a:spcPts val="1000"/>
              </a:spcBef>
              <a:defRPr sz="1500">
                <a:solidFill>
                  <a:srgbClr val="1A1A2E"/>
                </a:solidFill>
              </a:defRPr>
            </a:pPr>
            <a:r>
              <a:t>  *  Water alone can't disrupt the virus's protective coating</a:t>
            </a:r>
          </a:p>
          <a:p>
            <a:pPr>
              <a:spcBef>
                <a:spcPts val="1000"/>
              </a:spcBef>
              <a:defRPr sz="1500">
                <a:solidFill>
                  <a:srgbClr val="1A1A2E"/>
                </a:solidFill>
              </a:defRPr>
            </a:pPr>
            <a:r>
              <a:t>  *  Soap needs water to spread and work effectively</a:t>
            </a:r>
          </a:p>
          <a:p>
            <a:pPr>
              <a:spcBef>
                <a:spcPts val="1000"/>
              </a:spcBef>
              <a:defRPr sz="1500">
                <a:solidFill>
                  <a:srgbClr val="1A1A2E"/>
                </a:solidFill>
              </a:defRPr>
            </a:pPr>
            <a:r>
              <a:t>  *  This is why 20 seconds of proper handwashing matters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02920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2E86AB"/>
                </a:solidFill>
              </a:defRPr>
            </a:pPr>
            <a:r>
              <a:t>Answer: Soap molecules have one end that loves water and one end that loves fat. They wedge into the virus's fatty membrane and break it apart - destroying the virus!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2286000"/>
            <a:ext cx="3017520" cy="2743200"/>
          </a:xfrm>
          <a:prstGeom prst="roundRect">
            <a:avLst/>
          </a:prstGeom>
          <a:solidFill>
            <a:srgbClr val="F0F5FA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8/9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-457200" y="-457200"/>
            <a:ext cx="3657600" cy="1371600"/>
          </a:xfrm>
          <a:prstGeom prst="rtTriangle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2286000" y="0"/>
            <a:ext cx="2743200" cy="731520"/>
          </a:xfrm>
          <a:prstGeom prst="parallelogram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200400" y="457200"/>
            <a:ext cx="2286000" cy="365760"/>
          </a:xfrm>
          <a:prstGeom prst="parallelogram">
            <a:avLst/>
          </a:prstGeom>
          <a:solidFill>
            <a:srgbClr val="7EC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D1B2A"/>
                </a:solidFill>
              </a:defRPr>
            </a:pPr>
            <a:r>
              <a:t>Design a Handwashing Campaign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67E22"/>
                </a:solidFill>
              </a:defRPr>
            </a:pPr>
            <a:r>
              <a:t>YOUR ENGINEERING MISSION</a:t>
            </a:r>
          </a:p>
          <a:p>
            <a:pPr>
              <a:spcBef>
                <a:spcPts val="1000"/>
              </a:spcBef>
              <a:defRPr sz="1400"/>
            </a:pPr>
            <a:r>
              <a:t>Design a school campaign to improve handwashing and reduce illness.</a:t>
            </a:r>
          </a:p>
          <a:p>
            <a:br/>
            <a:pPr>
              <a:spcBef>
                <a:spcPts val="1000"/>
              </a:spcBef>
              <a:defRPr sz="1600" b="1">
                <a:solidFill>
                  <a:srgbClr val="1A4780"/>
                </a:solidFill>
              </a:defRPr>
            </a:pPr>
            <a:r>
              <a:t>Think Like an Engineer:</a:t>
            </a:r>
          </a:p>
          <a:p>
            <a:pPr>
              <a:spcBef>
                <a:spcPts val="400"/>
              </a:spcBef>
              <a:defRPr sz="1300"/>
            </a:pPr>
            <a:r>
              <a:t>     *  What's the minimum time needed for soap to work?</a:t>
            </a:r>
          </a:p>
          <a:p>
            <a:pPr>
              <a:spcBef>
                <a:spcPts val="400"/>
              </a:spcBef>
              <a:defRPr sz="1300"/>
            </a:pPr>
            <a:r>
              <a:t>     *  Which areas of hands are most often missed?</a:t>
            </a:r>
          </a:p>
          <a:p>
            <a:pPr>
              <a:spcBef>
                <a:spcPts val="400"/>
              </a:spcBef>
              <a:defRPr sz="1300"/>
            </a:pPr>
            <a:r>
              <a:t>     *  How would you convince people to wash properly?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0" y="2286000"/>
            <a:ext cx="3474720" cy="3200400"/>
          </a:xfrm>
          <a:prstGeom prst="roundRect">
            <a:avLst/>
          </a:prstGeom>
          <a:solidFill>
            <a:srgbClr val="F0F5FA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5760720"/>
            <a:ext cx="8229600" cy="868680"/>
          </a:xfrm>
          <a:prstGeom prst="rect">
            <a:avLst/>
          </a:prstGeom>
          <a:solidFill>
            <a:srgbClr val="1A237E"/>
          </a:solidFill>
        </p:spPr>
        <p:txBody>
          <a:bodyPr wrap="square" lIns="101600" tIns="50800">
            <a:spAutoFit/>
          </a:bodyPr>
          <a:lstStyle/>
          <a:p>
            <a:pPr>
              <a:defRPr sz="1100" b="1">
                <a:solidFill>
                  <a:srgbClr val="FFA500"/>
                </a:solidFill>
              </a:defRPr>
            </a:pPr>
            <a:r>
              <a:t>REAL CAREER CONNECTION:  </a:t>
            </a:r>
            <a:r>
              <a:rPr sz="1100" b="0">
                <a:solidFill>
                  <a:srgbClr val="FFFFFF"/>
                </a:solidFill>
              </a:rPr>
              <a:t>Public Health Scientists and Virologists study how diseases spread and how to stop them. They earn $70,000-$115,000/year.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9/9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