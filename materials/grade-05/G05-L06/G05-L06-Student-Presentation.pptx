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029200" cy="50292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Where Does a Tree's Mass Come From?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A 1-Ton Tree Got Most of Its Weight From 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G05-L06  |  5-LS1-1  |  5th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22860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440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097280"/>
            <a:ext cx="3657600" cy="530352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Learning Objectives &amp; Key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Explain that plants get most of their mass from CO2 in the air, not soil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Model how CO2 and sunlight drive photosynthesis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Trace how photosynthesis converts air into tree mass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Predict what happens to tree growth when CO2 or sunlight is removed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Key Vocabulary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Photosynthesis: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process plants use to convert light, CO2, and water into sugar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CO2 (Carbon Dioxide):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gas plants use as raw material for growth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Biomass: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total mass of living material in an organism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Glucose: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sugar produced by photosynthesis - plant food and building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The 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Where does a tree get the materials it needs to grow?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By the end of today, your model will answer this question!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474720"/>
            <a:ext cx="365760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Today We Build a Model!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L - LOCATE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Find the system's components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ESTABLISH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Map out how parts connect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V - VISUALIZE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Build your model in ModelIt!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EVALUATE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Run simulations and observe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R - REVISE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Improve your model with new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36576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1: Sort the Components!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4780"/>
                </a:solidFill>
              </a:defRPr>
            </a:pPr>
            <a:r>
              <a:t>Our system has 4 components: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CO2 in Air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Carbon dioxide concentration in atmosphere that plants absorb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Sunlight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Solar energy available for photosynthesis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Photosynthesis Rate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fast plants convert CO2 to sugar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Tree Biomass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The actual physical mass/weight of the tree</a:t>
            </a:r>
          </a:p>
          <a:p>
            <a:pPr>
              <a:spcBef>
                <a:spcPts val="1400"/>
              </a:spcBef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Sort them: EXTERNAL vs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2: Connect with Arrows!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Draw arrows to show HOW components affect each other:</a:t>
            </a:r>
          </a:p>
          <a:p>
            <a:pPr>
              <a:spcBef>
                <a:spcPts val="1400"/>
              </a:spcBef>
              <a:defRPr sz="1600" b="1">
                <a:solidFill>
                  <a:srgbClr val="228B22"/>
                </a:solidFill>
              </a:defRPr>
            </a:pPr>
            <a:r>
              <a:t>(+) POSITIVE Relationship</a:t>
            </a:r>
          </a:p>
          <a:p>
            <a:pPr>
              <a:defRPr sz="1400"/>
            </a:pPr>
            <a:r>
              <a:t>     When one goes UP, the other goes UP too</a:t>
            </a:r>
          </a:p>
          <a:p>
            <a:pPr>
              <a:spcBef>
                <a:spcPts val="1400"/>
              </a:spcBef>
              <a:defRPr sz="1600" b="1">
                <a:solidFill>
                  <a:srgbClr val="DC143C"/>
                </a:solidFill>
              </a:defRPr>
            </a:pPr>
            <a:r>
              <a:t>(-) NEGATIVE Relationship</a:t>
            </a:r>
          </a:p>
          <a:p>
            <a:pPr>
              <a:defRPr sz="1400"/>
            </a:pPr>
            <a:r>
              <a:t>     When one goes UP, the other goes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780"/>
                </a:solidFill>
              </a:defRPr>
            </a:pPr>
            <a:r>
              <a:t>Think About It:</a:t>
            </a:r>
          </a:p>
          <a:p>
            <a:pPr>
              <a:spcBef>
                <a:spcPts val="600"/>
              </a:spcBef>
              <a:defRPr sz="1500" i="1"/>
            </a:pPr>
            <a:r>
              <a:t>If trees don't get mass from soil, where do the carbon atoms in wood come from?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286000"/>
            <a:ext cx="3474720" cy="29260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3: Run the Simulation!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Test these scenarios in ModelIt!</a:t>
            </a:r>
          </a:p>
          <a:p>
            <a:pPr>
              <a:spcBef>
                <a:spcPts val="1200"/>
              </a:spcBef>
              <a:defRPr sz="1600" b="1"/>
            </a:pPr>
            <a:r>
              <a:t>Normal Growth</a:t>
            </a:r>
          </a:p>
          <a:p>
            <a:pPr>
              <a:defRPr sz="1400"/>
            </a:pPr>
            <a:r>
              <a:t>     CO2 and Sunlight at normal levels</a:t>
            </a:r>
          </a:p>
          <a:p>
            <a:pPr>
              <a:spcBef>
                <a:spcPts val="1200"/>
              </a:spcBef>
              <a:defRPr sz="1600" b="1"/>
            </a:pPr>
            <a:r>
              <a:t>No CO2</a:t>
            </a:r>
          </a:p>
          <a:p>
            <a:pPr>
              <a:defRPr sz="1400"/>
            </a:pPr>
            <a:r>
              <a:t>     Lock CO2 to 0% - sealed environment</a:t>
            </a:r>
          </a:p>
          <a:p>
            <a:pPr>
              <a:spcBef>
                <a:spcPts val="1200"/>
              </a:spcBef>
              <a:defRPr sz="1600" b="1"/>
            </a:pPr>
            <a:r>
              <a:t>Greenhouse Boost</a:t>
            </a:r>
          </a:p>
          <a:p>
            <a:pPr>
              <a:defRPr sz="1400"/>
            </a:pPr>
            <a:r>
              <a:t>     Both CO2 and Sunlight at high levels</a:t>
            </a:r>
          </a:p>
          <a:p>
            <a:br/>
            <a:pPr>
              <a:defRPr sz="1600" b="1">
                <a:solidFill>
                  <a:srgbClr val="2E86AB"/>
                </a:solidFill>
              </a:defRPr>
            </a:pPr>
            <a:r>
              <a:t>Watch the activity graphs change!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920240"/>
            <a:ext cx="3931920" cy="38404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[ModelIt Platform Screenshot - Simulation Results]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What Did We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Our Model Showed Us: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Trees get most of their mass from CO2 in the air - not from soil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Soil provides minerals but not the bulk mass of the tree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Remove CO2 and tree growth stops completely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This is why deforestation releases stored carbon back to atmosphere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E86AB"/>
                </a:solidFill>
              </a:defRPr>
            </a:pPr>
            <a:r>
              <a:t>Answer: Trees get their mass from carbon dioxide in the AIR! They pull CO2 through their leaves and use photosynthesis to build it into solid wood.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301752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Design a Carbon Capture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/>
            </a:pPr>
            <a:r>
              <a:t>Design a reforestation project to capture the most CO2 possible.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1A4780"/>
                </a:solidFill>
              </a:defRPr>
            </a:pPr>
            <a:r>
              <a:t>Think Like an Engineer:</a:t>
            </a:r>
          </a:p>
          <a:p>
            <a:pPr>
              <a:spcBef>
                <a:spcPts val="400"/>
              </a:spcBef>
              <a:defRPr sz="1300"/>
            </a:pPr>
            <a:r>
              <a:t>     *  Which tree species capture the most CO2?</a:t>
            </a:r>
          </a:p>
          <a:p>
            <a:pPr>
              <a:spcBef>
                <a:spcPts val="400"/>
              </a:spcBef>
              <a:defRPr sz="1300"/>
            </a:pPr>
            <a:r>
              <a:t>     *  How much CO2 does one tree absorb per year?</a:t>
            </a:r>
          </a:p>
          <a:p>
            <a:pPr>
              <a:spcBef>
                <a:spcPts val="400"/>
              </a:spcBef>
              <a:defRPr sz="1300"/>
            </a:pPr>
            <a:r>
              <a:t>     *  Where should the forest be located for maximum growth?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347472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868680"/>
          </a:xfrm>
          <a:prstGeom prst="rect">
            <a:avLst/>
          </a:prstGeom>
          <a:solidFill>
            <a:srgbClr val="1A237E"/>
          </a:solidFill>
        </p:spPr>
        <p:txBody>
          <a:bodyPr wrap="square" lIns="101600" tIns="50800">
            <a:spAutoFit/>
          </a:bodyPr>
          <a:lstStyle/>
          <a:p>
            <a:pPr>
              <a:defRPr sz="1100" b="1">
                <a:solidFill>
                  <a:srgbClr val="FFA500"/>
                </a:solidFill>
              </a:defRPr>
            </a:pPr>
            <a:r>
              <a:t>REAL CAREER CONNECTION:  </a:t>
            </a:r>
            <a:r>
              <a:rPr sz="1100" b="0">
                <a:solidFill>
                  <a:srgbClr val="FFFFFF"/>
                </a:solidFill>
              </a:rPr>
              <a:t>Plant Biologists and Agricultural Scientists optimize photosynthesis to feed 8 billion people. They earn $65,000-$105,000/year.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