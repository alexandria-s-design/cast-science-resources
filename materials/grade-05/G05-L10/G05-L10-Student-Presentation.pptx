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5943600" y="54864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114800" y="612648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657600" y="576072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5029200" cy="50292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The Light You're Seeing Is Already 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When You Look at a Star, You're Seeing the Past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G05-L10  |  5-ESS1-1  |  5th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20"/>
            <a:ext cx="2286000" cy="822960"/>
          </a:xfrm>
          <a:prstGeom prst="roundRect">
            <a:avLst/>
          </a:prstGeom>
          <a:solidFill>
            <a:srgbClr val="5DB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5532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5440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097280"/>
            <a:ext cx="3657600" cy="530352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Learning Objectives &amp; Key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Explain that apparent brightness depends on both distance and actual luminosity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Model how distance affects both light travel time and apparent brightness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Predict how apparent brightness changes with distance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Articulate that observing stars means observing the past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Key Vocabulary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Light Year: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The distance light travels in one year (~6 trillion miles)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Luminosity: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The actual amount of energy a star produces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Apparent Brightness: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How bright a star appears when viewed from Earth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Inverse Square Law: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Brightness decreases by the square of the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The 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822960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</a:defRPr>
            </a:pPr>
            <a:r>
              <a:t>How do a star's distance and luminosity determine how bright it appears from Earth?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By the end of today, your model will answer this question!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474720"/>
            <a:ext cx="365760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Today We Build a Model!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L - LOCATE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Find the system's components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ESTABLISH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Map out how parts connect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V - VISUALIZE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Build your model in ModelIt!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EVALUATE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Run simulations and observe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R - REVISE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Improve your model with new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36576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1: Sort the Components!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4780"/>
                </a:solidFill>
              </a:defRPr>
            </a:pPr>
            <a:r>
              <a:t>Our system has 4 components: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Star Distance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far the star is from Earth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Star Actual Luminosity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much light the star actually produces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Light Travel Time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old the light is when it reaches us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Apparent Brightness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bright the star looks to us from Earth</a:t>
            </a:r>
          </a:p>
          <a:p>
            <a:pPr>
              <a:spcBef>
                <a:spcPts val="1400"/>
              </a:spcBef>
            </a:pPr>
          </a:p>
          <a:p>
            <a:pPr>
              <a:defRPr sz="1500" b="1">
                <a:solidFill>
                  <a:srgbClr val="E67E22"/>
                </a:solidFill>
              </a:defRPr>
            </a:pPr>
            <a:r>
              <a:t>Sort them: EXTERNAL vs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41148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2: Connect with Arrows!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Draw arrows to show HOW components affect each other:</a:t>
            </a:r>
          </a:p>
          <a:p>
            <a:pPr>
              <a:spcBef>
                <a:spcPts val="1400"/>
              </a:spcBef>
              <a:defRPr sz="1600" b="1">
                <a:solidFill>
                  <a:srgbClr val="228B22"/>
                </a:solidFill>
              </a:defRPr>
            </a:pPr>
            <a:r>
              <a:t>(+) POSITIVE Relationship</a:t>
            </a:r>
          </a:p>
          <a:p>
            <a:pPr>
              <a:defRPr sz="1400"/>
            </a:pPr>
            <a:r>
              <a:t>     When one goes UP, the other goes UP too</a:t>
            </a:r>
          </a:p>
          <a:p>
            <a:pPr>
              <a:spcBef>
                <a:spcPts val="1400"/>
              </a:spcBef>
              <a:defRPr sz="1600" b="1">
                <a:solidFill>
                  <a:srgbClr val="DC143C"/>
                </a:solidFill>
              </a:defRPr>
            </a:pPr>
            <a:r>
              <a:t>(-) NEGATIVE Relationship</a:t>
            </a:r>
          </a:p>
          <a:p>
            <a:pPr>
              <a:defRPr sz="1400"/>
            </a:pPr>
            <a:r>
              <a:t>     When one goes UP, the other goes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780"/>
                </a:solidFill>
              </a:defRPr>
            </a:pPr>
            <a:r>
              <a:t>Think About It:</a:t>
            </a:r>
          </a:p>
          <a:p>
            <a:pPr>
              <a:spcBef>
                <a:spcPts val="600"/>
              </a:spcBef>
              <a:defRPr sz="1500" i="1"/>
            </a:pPr>
            <a:r>
              <a:t>If a star is very far away, why might we still be able to see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286000"/>
            <a:ext cx="3474720" cy="29260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3: Run the Simulation!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Test these scenarios in ModelIt!</a:t>
            </a:r>
          </a:p>
          <a:p>
            <a:pPr>
              <a:spcBef>
                <a:spcPts val="1200"/>
              </a:spcBef>
              <a:defRPr sz="1600" b="1"/>
            </a:pPr>
            <a:r>
              <a:t>The Sun</a:t>
            </a:r>
          </a:p>
          <a:p>
            <a:pPr>
              <a:defRPr sz="1400"/>
            </a:pPr>
            <a:r>
              <a:t>     Distance very low, Luminosity moderate</a:t>
            </a:r>
          </a:p>
          <a:p>
            <a:pPr>
              <a:spcBef>
                <a:spcPts val="1200"/>
              </a:spcBef>
              <a:defRPr sz="1600" b="1"/>
            </a:pPr>
            <a:r>
              <a:t>Nearby Dim Star</a:t>
            </a:r>
          </a:p>
          <a:p>
            <a:pPr>
              <a:defRPr sz="1400"/>
            </a:pPr>
            <a:r>
              <a:t>     Distance low, Luminosity very low</a:t>
            </a:r>
          </a:p>
          <a:p>
            <a:pPr>
              <a:spcBef>
                <a:spcPts val="1200"/>
              </a:spcBef>
              <a:defRPr sz="1600" b="1"/>
            </a:pPr>
            <a:r>
              <a:t>Distant Supergiant</a:t>
            </a:r>
          </a:p>
          <a:p>
            <a:pPr>
              <a:defRPr sz="1400"/>
            </a:pPr>
            <a:r>
              <a:t>     Distance very high, Luminosity very high</a:t>
            </a:r>
          </a:p>
          <a:p>
            <a:br/>
            <a:pPr>
              <a:defRPr sz="1600" b="1">
                <a:solidFill>
                  <a:srgbClr val="2E86AB"/>
                </a:solidFill>
              </a:defRPr>
            </a:pPr>
            <a:r>
              <a:t>Watch the activity graphs change!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920240"/>
            <a:ext cx="3931920" cy="38404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657600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[ModelIt Platform Screenshot - Simulation Results]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What Did We Discover?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Our Model Showed Us: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The sun looks brightest because it's CLOSE, not because it's special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Distance has a NEGATIVE effect on apparent brightness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Very luminous stars can be visible from thousands of light years away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Light travel time means we're always seeing the past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E86AB"/>
                </a:solidFill>
              </a:defRPr>
            </a:pPr>
            <a:r>
              <a:t>Answer: Apparent brightness depends on both distance (closer = brighter) and luminosity (more luminous = brighter). The sun looks brightest because it's the closest star by far!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86000"/>
            <a:ext cx="3017520" cy="27432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1B2A"/>
                </a:solidFill>
              </a:defRPr>
            </a:pPr>
            <a:r>
              <a:t>Design a Star Observation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/>
            </a:pPr>
            <a:r>
              <a:t>Design a mission to study a specific star using what you know about light travel time.</a:t>
            </a:r>
          </a:p>
          <a:p>
            <a:br/>
            <a:pPr>
              <a:spcBef>
                <a:spcPts val="1000"/>
              </a:spcBef>
              <a:defRPr sz="1600" b="1">
                <a:solidFill>
                  <a:srgbClr val="1A4780"/>
                </a:solidFill>
              </a:defRPr>
            </a:pPr>
            <a:r>
              <a:t>Think Like an Engineer:</a:t>
            </a:r>
          </a:p>
          <a:p>
            <a:pPr>
              <a:spcBef>
                <a:spcPts val="400"/>
              </a:spcBef>
              <a:defRPr sz="1300"/>
            </a:pPr>
            <a:r>
              <a:t>     *  If we send a signal, how long until we get a response?</a:t>
            </a:r>
          </a:p>
          <a:p>
            <a:pPr>
              <a:spcBef>
                <a:spcPts val="400"/>
              </a:spcBef>
              <a:defRPr sz="1300"/>
            </a:pPr>
            <a:r>
              <a:t>     *  What are we actually 'seeing' when we observe this star?</a:t>
            </a:r>
          </a:p>
          <a:p>
            <a:pPr>
              <a:spcBef>
                <a:spcPts val="400"/>
              </a:spcBef>
              <a:defRPr sz="1300"/>
            </a:pPr>
            <a:r>
              <a:t>     *  How do we learn about stars we can never visit?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286000"/>
            <a:ext cx="347472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868680"/>
          </a:xfrm>
          <a:prstGeom prst="rect">
            <a:avLst/>
          </a:prstGeom>
          <a:solidFill>
            <a:srgbClr val="1A237E"/>
          </a:solidFill>
        </p:spPr>
        <p:txBody>
          <a:bodyPr wrap="square" lIns="101600" tIns="50800">
            <a:spAutoFit/>
          </a:bodyPr>
          <a:lstStyle/>
          <a:p>
            <a:pPr>
              <a:defRPr sz="1100" b="1">
                <a:solidFill>
                  <a:srgbClr val="FFA500"/>
                </a:solidFill>
              </a:defRPr>
            </a:pPr>
            <a:r>
              <a:t>REAL CAREER CONNECTION:  </a:t>
            </a:r>
            <a:r>
              <a:rPr sz="1100" b="0">
                <a:solidFill>
                  <a:srgbClr val="FFFFFF"/>
                </a:solidFill>
              </a:rPr>
              <a:t>Astronomers and Astrophysicists study everything beyond Earth using the principles you modeled today. They earn $90,000-$145,000/year.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