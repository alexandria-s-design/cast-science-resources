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5943600" y="54864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4114800" y="612648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657600" y="576072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5029200" cy="50292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Powered by the Sun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How Pizza, Basketball, and Your Heartbeat Are All Solar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G05-L03  |  5-PS3-1  |  5th 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03520"/>
            <a:ext cx="2286000" cy="822960"/>
          </a:xfrm>
          <a:prstGeom prst="roundRect">
            <a:avLst/>
          </a:prstGeom>
          <a:solidFill>
            <a:srgbClr val="5DB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55321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54406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097280"/>
            <a:ext cx="3657600" cy="530352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Learning Objectives &amp; Key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Trace the energy chain from the sun through plants to animals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Model how sunlight intensity affects photosynthesis rate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Explain how temperature influences plant energy production</a:t>
            </a:r>
          </a:p>
          <a:p>
            <a:pPr>
              <a:spcBef>
                <a:spcPts val="800"/>
              </a:spcBef>
              <a:defRPr sz="1300">
                <a:solidFill>
                  <a:srgbClr val="1A1A2E"/>
                </a:solidFill>
              </a:defRPr>
            </a:pPr>
            <a:r>
              <a:t>  *  Predict what happens to animals when sunlight availability drops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Key Vocabulary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Photosynthesis: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The process plants use to convert sunlight into sugar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Producer: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An organism that makes its own food using sunlight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Consumer: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An organism that eats other organisms for energy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</a:defRPr>
            </a:pPr>
            <a:r>
              <a:t>  Energy Transfer: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     The movement of energy from one organism to another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The 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8229600" cy="1645920"/>
          </a:xfrm>
          <a:prstGeom prst="roundRect">
            <a:avLst/>
          </a:prstGeom>
          <a:solidFill>
            <a:srgbClr val="E8F4F8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D1B2A"/>
                </a:solidFill>
              </a:defRPr>
            </a:pPr>
            <a:r>
              <a:t>How does energy from the sun become the energy in your body?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2E86AB"/>
                </a:solidFill>
              </a:defRPr>
            </a:pPr>
            <a:r>
              <a:t>By the end of today, your model will answer this question!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474720"/>
            <a:ext cx="365760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D1B2A"/>
                </a:solidFill>
              </a:defRPr>
            </a:pPr>
            <a:r>
              <a:t>Today We Build a Model!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L - LOCATE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Find the system's components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ESTABLISH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Map out how parts connect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V - VISUALIZE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Build your model in ModelIt!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E - EVALUATE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Run simulations and observe</a:t>
            </a:r>
          </a:p>
          <a:p>
            <a:pPr>
              <a:spcBef>
                <a:spcPts val="1000"/>
              </a:spcBef>
              <a:defRPr sz="1800" b="1">
                <a:solidFill>
                  <a:srgbClr val="1A4780"/>
                </a:solidFill>
              </a:defRPr>
            </a:pPr>
            <a:r>
              <a:t>R - REVISE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t>   Improve your model with new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36576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1: Sort the Components!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4780"/>
                </a:solidFill>
              </a:defRPr>
            </a:pPr>
            <a:r>
              <a:t>Our system has 4 components: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Sunlight Intensity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Amount of solar energy reaching plants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Temperature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Ambient warmth that affects photosynthesis efficiency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Photosynthesis Rate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fast plants convert sunlight to sugar</a:t>
            </a:r>
          </a:p>
          <a:p>
            <a:pPr>
              <a:spcBef>
                <a:spcPts val="800"/>
              </a:spcBef>
              <a:defRPr sz="1600" b="1">
                <a:solidFill>
                  <a:srgbClr val="0D1B2A"/>
                </a:solidFill>
              </a:defRPr>
            </a:pPr>
            <a:r>
              <a:t>  *  Energy Available to Animals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     How much food energy exists for consumers</a:t>
            </a:r>
          </a:p>
          <a:p>
            <a:pPr>
              <a:spcBef>
                <a:spcPts val="1400"/>
              </a:spcBef>
            </a:pPr>
          </a:p>
          <a:p>
            <a:pPr>
              <a:defRPr sz="1500" b="1">
                <a:solidFill>
                  <a:srgbClr val="E67E22"/>
                </a:solidFill>
              </a:defRPr>
            </a:pPr>
            <a:r>
              <a:t>Sort them: EXTERNAL vs 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3474720" cy="41148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2: Connect with Arrows!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Draw arrows to show HOW components affect each other:</a:t>
            </a:r>
          </a:p>
          <a:p>
            <a:pPr>
              <a:spcBef>
                <a:spcPts val="1400"/>
              </a:spcBef>
              <a:defRPr sz="1600" b="1">
                <a:solidFill>
                  <a:srgbClr val="228B22"/>
                </a:solidFill>
              </a:defRPr>
            </a:pPr>
            <a:r>
              <a:t>(+) POSITIVE Relationship</a:t>
            </a:r>
          </a:p>
          <a:p>
            <a:pPr>
              <a:defRPr sz="1400"/>
            </a:pPr>
            <a:r>
              <a:t>     When one goes UP, the other goes UP too</a:t>
            </a:r>
          </a:p>
          <a:p>
            <a:pPr>
              <a:spcBef>
                <a:spcPts val="1400"/>
              </a:spcBef>
              <a:defRPr sz="1600" b="1">
                <a:solidFill>
                  <a:srgbClr val="DC143C"/>
                </a:solidFill>
              </a:defRPr>
            </a:pPr>
            <a:r>
              <a:t>(-) NEGATIVE Relationship</a:t>
            </a:r>
          </a:p>
          <a:p>
            <a:pPr>
              <a:defRPr sz="1400"/>
            </a:pPr>
            <a:r>
              <a:t>     When one goes UP, the other goes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4780"/>
                </a:solidFill>
              </a:defRPr>
            </a:pPr>
            <a:r>
              <a:t>Think About It:</a:t>
            </a:r>
          </a:p>
          <a:p>
            <a:pPr>
              <a:spcBef>
                <a:spcPts val="600"/>
              </a:spcBef>
              <a:defRPr sz="1500" i="1"/>
            </a:pPr>
            <a:r>
              <a:t>When sunlight increases, what happens to the amount of energy available in the ecosystem?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286000"/>
            <a:ext cx="3474720" cy="29260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Activity 3: Run the Simulation!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Test these scenarios in ModelIt!</a:t>
            </a:r>
          </a:p>
          <a:p>
            <a:pPr>
              <a:spcBef>
                <a:spcPts val="1200"/>
              </a:spcBef>
              <a:defRPr sz="1600" b="1"/>
            </a:pPr>
            <a:r>
              <a:t>Summer Conditions</a:t>
            </a:r>
          </a:p>
          <a:p>
            <a:pPr>
              <a:defRPr sz="1400"/>
            </a:pPr>
            <a:r>
              <a:t>     Set Sunlight and Temperature to high levels</a:t>
            </a:r>
          </a:p>
          <a:p>
            <a:pPr>
              <a:spcBef>
                <a:spcPts val="1200"/>
              </a:spcBef>
              <a:defRPr sz="1600" b="1"/>
            </a:pPr>
            <a:r>
              <a:t>Winter Conditions</a:t>
            </a:r>
          </a:p>
          <a:p>
            <a:pPr>
              <a:defRPr sz="1400"/>
            </a:pPr>
            <a:r>
              <a:t>     Lock Sunlight to 25% and Temperature to 25%</a:t>
            </a:r>
          </a:p>
          <a:p>
            <a:pPr>
              <a:spcBef>
                <a:spcPts val="1200"/>
              </a:spcBef>
              <a:defRPr sz="1600" b="1"/>
            </a:pPr>
            <a:r>
              <a:t>Total Eclipse</a:t>
            </a:r>
          </a:p>
          <a:p>
            <a:pPr>
              <a:defRPr sz="1400"/>
            </a:pPr>
            <a:r>
              <a:t>     Lock Sunlight to 0% and observe the cascade</a:t>
            </a:r>
          </a:p>
          <a:p>
            <a:br/>
            <a:pPr>
              <a:defRPr sz="1600" b="1">
                <a:solidFill>
                  <a:srgbClr val="2E86AB"/>
                </a:solidFill>
              </a:defRPr>
            </a:pPr>
            <a:r>
              <a:t>Watch the activity graphs change!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920240"/>
            <a:ext cx="3931920" cy="384048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657600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[ModelIt Platform Screenshot - Simulation Results]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1B2A"/>
                </a:solidFill>
              </a:defRPr>
            </a:pPr>
            <a:r>
              <a:t>What Did We Discover?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780"/>
                </a:solidFill>
              </a:defRPr>
            </a:pPr>
            <a:r>
              <a:t>Our Model Showed Us: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All energy in food originally came from sunlight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Photosynthesis converts solar energy into chemical energy (sugar)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When sunlight drops, the entire food chain is affected</a:t>
            </a:r>
          </a:p>
          <a:p>
            <a:pPr>
              <a:spcBef>
                <a:spcPts val="1000"/>
              </a:spcBef>
              <a:defRPr sz="1500">
                <a:solidFill>
                  <a:srgbClr val="1A1A2E"/>
                </a:solidFill>
              </a:defRPr>
            </a:pPr>
            <a:r>
              <a:t>  *  Animals hibernate and migrate because winter reduces available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E86AB"/>
                </a:solidFill>
              </a:defRPr>
            </a:pPr>
            <a:r>
              <a:t>Answer: The sun's energy is captured by plants through photosynthesis, stored as sugar, and transferred to animals when they eat plants!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286000"/>
            <a:ext cx="3017520" cy="27432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1B2A"/>
                </a:solidFill>
              </a:defRPr>
            </a:pPr>
            <a:r>
              <a:t>Design a Greenhouse for Mars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/>
            </a:pPr>
            <a:r>
              <a:t>Design a greenhouse that could grow food for astronauts on Mars, where sunlight is weaker.</a:t>
            </a:r>
          </a:p>
          <a:p>
            <a:br/>
            <a:pPr>
              <a:spcBef>
                <a:spcPts val="1000"/>
              </a:spcBef>
              <a:defRPr sz="1600" b="1">
                <a:solidFill>
                  <a:srgbClr val="1A4780"/>
                </a:solidFill>
              </a:defRPr>
            </a:pPr>
            <a:r>
              <a:t>Think Like an Engineer:</a:t>
            </a:r>
          </a:p>
          <a:p>
            <a:pPr>
              <a:spcBef>
                <a:spcPts val="400"/>
              </a:spcBef>
              <a:defRPr sz="1300"/>
            </a:pPr>
            <a:r>
              <a:t>     *  How much weaker is sunlight on Mars compared to Earth?</a:t>
            </a:r>
          </a:p>
          <a:p>
            <a:pPr>
              <a:spcBef>
                <a:spcPts val="400"/>
              </a:spcBef>
              <a:defRPr sz="1300"/>
            </a:pPr>
            <a:r>
              <a:t>     *  What conditions do plants need for maximum photosynthesis?</a:t>
            </a:r>
          </a:p>
          <a:p>
            <a:pPr>
              <a:spcBef>
                <a:spcPts val="400"/>
              </a:spcBef>
              <a:defRPr sz="1300"/>
            </a:pPr>
            <a:r>
              <a:t>     *  How could you supplement natural sunlight?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286000"/>
            <a:ext cx="3474720" cy="3200400"/>
          </a:xfrm>
          <a:prstGeom prst="roundRect">
            <a:avLst/>
          </a:prstGeom>
          <a:solidFill>
            <a:srgbClr val="F0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8229600" cy="868680"/>
          </a:xfrm>
          <a:prstGeom prst="rect">
            <a:avLst/>
          </a:prstGeom>
          <a:solidFill>
            <a:srgbClr val="1A237E"/>
          </a:solidFill>
        </p:spPr>
        <p:txBody>
          <a:bodyPr wrap="square" lIns="101600" tIns="50800">
            <a:spAutoFit/>
          </a:bodyPr>
          <a:lstStyle/>
          <a:p>
            <a:pPr>
              <a:defRPr sz="1100" b="1">
                <a:solidFill>
                  <a:srgbClr val="FFA500"/>
                </a:solidFill>
              </a:defRPr>
            </a:pPr>
            <a:r>
              <a:t>REAL CAREER CONNECTION:  </a:t>
            </a:r>
            <a:r>
              <a:rPr sz="1100" b="0">
                <a:solidFill>
                  <a:srgbClr val="FFFFFF"/>
                </a:solidFill>
              </a:rPr>
              <a:t>Sports Nutritionists and Exercise Physiologists optimize how athletes convert food energy into performance. They earn $55,000-$90,000/year.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