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 rot="10800000">
            <a:off x="5943600" y="54864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>
            <a:off x="4114800" y="612648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>
            <a:off x="3657600" y="576072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914400"/>
            <a:ext cx="5029200" cy="502920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86AB"/>
                </a:solidFill>
                <a:latin typeface="Comic Sans MS"/>
              </a:defRPr>
            </a:pPr>
            <a:r>
              <a:t>ModelIt!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D1B2A"/>
                </a:solidFill>
              </a:defRPr>
            </a:pPr>
            <a:r>
              <a:t>The Disappearing 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004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2E86AB"/>
                </a:solidFill>
              </a:defRPr>
            </a:pPr>
            <a:r>
              <a:t>Ice Melts, But the Mass Never Leaves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148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G05-L05  |  5-PS1-2  |  5th Grade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303520"/>
            <a:ext cx="2286000" cy="822960"/>
          </a:xfrm>
          <a:prstGeom prst="roundRect">
            <a:avLst/>
          </a:prstGeom>
          <a:solidFill>
            <a:srgbClr val="5DB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7240" y="553212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19" y="5440680"/>
            <a:ext cx="1554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1B2A"/>
                </a:solidFill>
                <a:latin typeface="Comic Sans MS"/>
              </a:defRPr>
            </a:pPr>
            <a:r>
              <a:t>ModelIt!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80" y="1097280"/>
            <a:ext cx="3657600" cy="5303520"/>
          </a:xfrm>
          <a:prstGeom prst="roundRect">
            <a:avLst/>
          </a:prstGeom>
          <a:solidFill>
            <a:srgbClr val="F0F5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0D1B2A"/>
                </a:solidFill>
              </a:defRPr>
            </a:pPr>
            <a:r>
              <a:t>Learning Objectives &amp; Key Vocabulary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4780"/>
                </a:solidFill>
              </a:defRPr>
            </a:pPr>
            <a:r>
              <a:t>Learning Goals</a:t>
            </a:r>
          </a:p>
          <a:p>
            <a:pPr>
              <a:spcBef>
                <a:spcPts val="800"/>
              </a:spcBef>
              <a:defRPr sz="1300">
                <a:solidFill>
                  <a:srgbClr val="1A1A2E"/>
                </a:solidFill>
              </a:defRPr>
            </a:pPr>
            <a:r>
              <a:t>  *  Observe and explain why mass doesn't change during state changes</a:t>
            </a:r>
          </a:p>
          <a:p>
            <a:pPr>
              <a:spcBef>
                <a:spcPts val="800"/>
              </a:spcBef>
              <a:defRPr sz="1300">
                <a:solidFill>
                  <a:srgbClr val="1A1A2E"/>
                </a:solidFill>
              </a:defRPr>
            </a:pPr>
            <a:r>
              <a:t>  *  Model how temperature shifts matter between solid and liquid form</a:t>
            </a:r>
          </a:p>
          <a:p>
            <a:pPr>
              <a:spcBef>
                <a:spcPts val="800"/>
              </a:spcBef>
              <a:defRPr sz="1300">
                <a:solidFill>
                  <a:srgbClr val="1A1A2E"/>
                </a:solidFill>
              </a:defRPr>
            </a:pPr>
            <a:r>
              <a:t>  *  Predict what happens to each state as temperature changes</a:t>
            </a:r>
          </a:p>
          <a:p>
            <a:pPr>
              <a:spcBef>
                <a:spcPts val="800"/>
              </a:spcBef>
              <a:defRPr sz="1300">
                <a:solidFill>
                  <a:srgbClr val="1A1A2E"/>
                </a:solidFill>
              </a:defRPr>
            </a:pPr>
            <a:r>
              <a:t>  *  Apply conservation of matter to everyday physical changes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92024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4780"/>
                </a:solidFill>
              </a:defRPr>
            </a:pPr>
            <a:r>
              <a:t>Key Vocabulary</a:t>
            </a:r>
          </a:p>
          <a:p>
            <a:pPr>
              <a:spcBef>
                <a:spcPts val="800"/>
              </a:spcBef>
              <a:defRPr sz="1300" b="1">
                <a:solidFill>
                  <a:srgbClr val="0D1B2A"/>
                </a:solidFill>
              </a:defRPr>
            </a:pPr>
            <a:r>
              <a:t>  Conservation: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     The principle that matter cannot be created or destroyed</a:t>
            </a:r>
          </a:p>
          <a:p>
            <a:pPr>
              <a:spcBef>
                <a:spcPts val="800"/>
              </a:spcBef>
              <a:defRPr sz="1300" b="1">
                <a:solidFill>
                  <a:srgbClr val="0D1B2A"/>
                </a:solidFill>
              </a:defRPr>
            </a:pPr>
            <a:r>
              <a:t>  State of Matter: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     Solid, liquid, or gas - the form matter takes</a:t>
            </a:r>
          </a:p>
          <a:p>
            <a:pPr>
              <a:spcBef>
                <a:spcPts val="800"/>
              </a:spcBef>
              <a:defRPr sz="1300" b="1">
                <a:solidFill>
                  <a:srgbClr val="0D1B2A"/>
                </a:solidFill>
              </a:defRPr>
            </a:pPr>
            <a:r>
              <a:t>  Physical Change: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     A change in shape or form without creating new substance</a:t>
            </a:r>
          </a:p>
          <a:p>
            <a:pPr>
              <a:spcBef>
                <a:spcPts val="800"/>
              </a:spcBef>
              <a:defRPr sz="1300" b="1">
                <a:solidFill>
                  <a:srgbClr val="0D1B2A"/>
                </a:solidFill>
              </a:defRPr>
            </a:pPr>
            <a:r>
              <a:t>  Mass: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     The amount of matter in an object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0D1B2A"/>
                </a:solidFill>
              </a:defRPr>
            </a:pPr>
            <a:r>
              <a:t>The Big Question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20240"/>
            <a:ext cx="8229600" cy="1645920"/>
          </a:xfrm>
          <a:prstGeom prst="roundRect">
            <a:avLst/>
          </a:prstGeom>
          <a:solidFill>
            <a:srgbClr val="E8F4F8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7680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D1B2A"/>
                </a:solidFill>
              </a:defRPr>
            </a:pPr>
            <a:r>
              <a:t>How does the total mass of matter stay the same when it changes form?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2E86AB"/>
                </a:solidFill>
              </a:defRPr>
            </a:pPr>
            <a:r>
              <a:t>By the end of today, your model will answer this question!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3474720"/>
            <a:ext cx="3657600" cy="3200400"/>
          </a:xfrm>
          <a:prstGeom prst="roundRect">
            <a:avLst/>
          </a:prstGeom>
          <a:solidFill>
            <a:srgbClr val="F0F5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0D1B2A"/>
                </a:solidFill>
              </a:defRPr>
            </a:pPr>
            <a:r>
              <a:t>Today We Build a Model!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800" b="1">
                <a:solidFill>
                  <a:srgbClr val="1A4780"/>
                </a:solidFill>
              </a:defRPr>
            </a:pPr>
            <a:r>
              <a:t>L - LOCATE</a:t>
            </a:r>
          </a:p>
          <a:p>
            <a:pPr>
              <a:defRPr sz="1400">
                <a:solidFill>
                  <a:srgbClr val="1A1A2E"/>
                </a:solidFill>
              </a:defRPr>
            </a:pPr>
            <a:r>
              <a:t>   Find the system's components</a:t>
            </a:r>
          </a:p>
          <a:p>
            <a:pPr>
              <a:spcBef>
                <a:spcPts val="1000"/>
              </a:spcBef>
              <a:defRPr sz="1800" b="1">
                <a:solidFill>
                  <a:srgbClr val="1A4780"/>
                </a:solidFill>
              </a:defRPr>
            </a:pPr>
            <a:r>
              <a:t>E - ESTABLISH</a:t>
            </a:r>
          </a:p>
          <a:p>
            <a:pPr>
              <a:defRPr sz="1400">
                <a:solidFill>
                  <a:srgbClr val="1A1A2E"/>
                </a:solidFill>
              </a:defRPr>
            </a:pPr>
            <a:r>
              <a:t>   Map out how parts connect</a:t>
            </a:r>
          </a:p>
          <a:p>
            <a:pPr>
              <a:spcBef>
                <a:spcPts val="1000"/>
              </a:spcBef>
              <a:defRPr sz="1800" b="1">
                <a:solidFill>
                  <a:srgbClr val="1A4780"/>
                </a:solidFill>
              </a:defRPr>
            </a:pPr>
            <a:r>
              <a:t>V - VISUALIZE</a:t>
            </a:r>
          </a:p>
          <a:p>
            <a:pPr>
              <a:defRPr sz="1400">
                <a:solidFill>
                  <a:srgbClr val="1A1A2E"/>
                </a:solidFill>
              </a:defRPr>
            </a:pPr>
            <a:r>
              <a:t>   Build your model in ModelIt!</a:t>
            </a:r>
          </a:p>
          <a:p>
            <a:pPr>
              <a:spcBef>
                <a:spcPts val="1000"/>
              </a:spcBef>
              <a:defRPr sz="1800" b="1">
                <a:solidFill>
                  <a:srgbClr val="1A4780"/>
                </a:solidFill>
              </a:defRPr>
            </a:pPr>
            <a:r>
              <a:t>E - EVALUATE</a:t>
            </a:r>
          </a:p>
          <a:p>
            <a:pPr>
              <a:defRPr sz="1400">
                <a:solidFill>
                  <a:srgbClr val="1A1A2E"/>
                </a:solidFill>
              </a:defRPr>
            </a:pPr>
            <a:r>
              <a:t>   Run simulations and observe</a:t>
            </a:r>
          </a:p>
          <a:p>
            <a:pPr>
              <a:spcBef>
                <a:spcPts val="1000"/>
              </a:spcBef>
              <a:defRPr sz="1800" b="1">
                <a:solidFill>
                  <a:srgbClr val="1A4780"/>
                </a:solidFill>
              </a:defRPr>
            </a:pPr>
            <a:r>
              <a:t>R - REVISE</a:t>
            </a:r>
          </a:p>
          <a:p>
            <a:pPr>
              <a:defRPr sz="1400">
                <a:solidFill>
                  <a:srgbClr val="1A1A2E"/>
                </a:solidFill>
              </a:defRPr>
            </a:pPr>
            <a:r>
              <a:t>   Improve your model with new evidence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1920240"/>
            <a:ext cx="3474720" cy="3657600"/>
          </a:xfrm>
          <a:prstGeom prst="roundRect">
            <a:avLst/>
          </a:prstGeom>
          <a:solidFill>
            <a:srgbClr val="F0F5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0D1B2A"/>
                </a:solidFill>
              </a:defRPr>
            </a:pPr>
            <a:r>
              <a:t>Activity 1: Sort the Components!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4780"/>
                </a:solidFill>
              </a:defRPr>
            </a:pPr>
            <a:r>
              <a:t>Our system has 4 components:</a:t>
            </a:r>
          </a:p>
          <a:p>
            <a:pPr>
              <a:spcBef>
                <a:spcPts val="800"/>
              </a:spcBef>
              <a:defRPr sz="1600" b="1">
                <a:solidFill>
                  <a:srgbClr val="0D1B2A"/>
                </a:solidFill>
              </a:defRPr>
            </a:pPr>
            <a:r>
              <a:t>  *  Air Temperature</a:t>
            </a:r>
          </a:p>
          <a:p>
            <a:pPr>
              <a:defRPr sz="1300">
                <a:solidFill>
                  <a:srgbClr val="1A1A2E"/>
                </a:solidFill>
              </a:defRPr>
            </a:pPr>
            <a:r>
              <a:t>     The warmth or cold of the environment</a:t>
            </a:r>
          </a:p>
          <a:p>
            <a:pPr>
              <a:spcBef>
                <a:spcPts val="800"/>
              </a:spcBef>
              <a:defRPr sz="1600" b="1">
                <a:solidFill>
                  <a:srgbClr val="0D1B2A"/>
                </a:solidFill>
              </a:defRPr>
            </a:pPr>
            <a:r>
              <a:t>  *  Starting Mass</a:t>
            </a:r>
          </a:p>
          <a:p>
            <a:pPr>
              <a:defRPr sz="1300">
                <a:solidFill>
                  <a:srgbClr val="1A1A2E"/>
                </a:solidFill>
              </a:defRPr>
            </a:pPr>
            <a:r>
              <a:t>     The total amount of matter - stays constant!</a:t>
            </a:r>
          </a:p>
          <a:p>
            <a:pPr>
              <a:spcBef>
                <a:spcPts val="800"/>
              </a:spcBef>
              <a:defRPr sz="1600" b="1">
                <a:solidFill>
                  <a:srgbClr val="0D1B2A"/>
                </a:solidFill>
              </a:defRPr>
            </a:pPr>
            <a:r>
              <a:t>  *  Ice Amount</a:t>
            </a:r>
          </a:p>
          <a:p>
            <a:pPr>
              <a:defRPr sz="1300">
                <a:solidFill>
                  <a:srgbClr val="1A1A2E"/>
                </a:solidFill>
              </a:defRPr>
            </a:pPr>
            <a:r>
              <a:t>     How much substance is in solid form</a:t>
            </a:r>
          </a:p>
          <a:p>
            <a:pPr>
              <a:spcBef>
                <a:spcPts val="800"/>
              </a:spcBef>
              <a:defRPr sz="1600" b="1">
                <a:solidFill>
                  <a:srgbClr val="0D1B2A"/>
                </a:solidFill>
              </a:defRPr>
            </a:pPr>
            <a:r>
              <a:t>  *  Liquid Water Amount</a:t>
            </a:r>
          </a:p>
          <a:p>
            <a:pPr>
              <a:defRPr sz="1300">
                <a:solidFill>
                  <a:srgbClr val="1A1A2E"/>
                </a:solidFill>
              </a:defRPr>
            </a:pPr>
            <a:r>
              <a:t>     How much substance is in liquid form</a:t>
            </a:r>
          </a:p>
          <a:p>
            <a:pPr>
              <a:spcBef>
                <a:spcPts val="1400"/>
              </a:spcBef>
            </a:pPr>
          </a:p>
          <a:p>
            <a:pPr>
              <a:defRPr sz="1500" b="1">
                <a:solidFill>
                  <a:srgbClr val="E67E22"/>
                </a:solidFill>
              </a:defRPr>
            </a:pPr>
            <a:r>
              <a:t>Sort them: EXTERNAL vs INTERNAL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1920240"/>
            <a:ext cx="3474720" cy="4114800"/>
          </a:xfrm>
          <a:prstGeom prst="roundRect">
            <a:avLst/>
          </a:prstGeom>
          <a:solidFill>
            <a:srgbClr val="F0F5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0D1B2A"/>
                </a:solidFill>
              </a:defRPr>
            </a:pPr>
            <a:r>
              <a:t>Activity 2: Connect with Arrows!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/>
            </a:pPr>
            <a:r>
              <a:t>Draw arrows to show HOW components affect each other:</a:t>
            </a:r>
          </a:p>
          <a:p>
            <a:pPr>
              <a:spcBef>
                <a:spcPts val="1400"/>
              </a:spcBef>
              <a:defRPr sz="1600" b="1">
                <a:solidFill>
                  <a:srgbClr val="228B22"/>
                </a:solidFill>
              </a:defRPr>
            </a:pPr>
            <a:r>
              <a:t>(+) POSITIVE Relationship</a:t>
            </a:r>
          </a:p>
          <a:p>
            <a:pPr>
              <a:defRPr sz="1400"/>
            </a:pPr>
            <a:r>
              <a:t>     When one goes UP, the other goes UP too</a:t>
            </a:r>
          </a:p>
          <a:p>
            <a:pPr>
              <a:spcBef>
                <a:spcPts val="1400"/>
              </a:spcBef>
              <a:defRPr sz="1600" b="1">
                <a:solidFill>
                  <a:srgbClr val="DC143C"/>
                </a:solidFill>
              </a:defRPr>
            </a:pPr>
            <a:r>
              <a:t>(-) NEGATIVE Relationship</a:t>
            </a:r>
          </a:p>
          <a:p>
            <a:pPr>
              <a:defRPr sz="1400"/>
            </a:pPr>
            <a:r>
              <a:t>     When one goes UP, the other goes 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4780"/>
                </a:solidFill>
              </a:defRPr>
            </a:pPr>
            <a:r>
              <a:t>Think About It:</a:t>
            </a:r>
          </a:p>
          <a:p>
            <a:pPr>
              <a:spcBef>
                <a:spcPts val="600"/>
              </a:spcBef>
              <a:defRPr sz="1500" i="1"/>
            </a:pPr>
            <a:r>
              <a:t>When ice melts, where does the mass go?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2286000"/>
            <a:ext cx="3474720" cy="2926080"/>
          </a:xfrm>
          <a:prstGeom prst="roundRect">
            <a:avLst/>
          </a:prstGeom>
          <a:solidFill>
            <a:srgbClr val="F0F5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0D1B2A"/>
                </a:solidFill>
              </a:defRPr>
            </a:pPr>
            <a:r>
              <a:t>Activity 3: Run the Simulation!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4780"/>
                </a:solidFill>
              </a:defRPr>
            </a:pPr>
            <a:r>
              <a:t>Test these scenarios in ModelIt!</a:t>
            </a:r>
          </a:p>
          <a:p>
            <a:pPr>
              <a:spcBef>
                <a:spcPts val="1200"/>
              </a:spcBef>
              <a:defRPr sz="1600" b="1"/>
            </a:pPr>
            <a:r>
              <a:t>Room Temperature</a:t>
            </a:r>
          </a:p>
          <a:p>
            <a:pPr>
              <a:defRPr sz="1400"/>
            </a:pPr>
            <a:r>
              <a:t>     Normal conditions with some ice and liquid</a:t>
            </a:r>
          </a:p>
          <a:p>
            <a:pPr>
              <a:spcBef>
                <a:spcPts val="1200"/>
              </a:spcBef>
              <a:defRPr sz="1600" b="1"/>
            </a:pPr>
            <a:r>
              <a:t>Freezing Conditions</a:t>
            </a:r>
          </a:p>
          <a:p>
            <a:pPr>
              <a:defRPr sz="1400"/>
            </a:pPr>
            <a:r>
              <a:t>     Lock Temperature to 10% and observe</a:t>
            </a:r>
          </a:p>
          <a:p>
            <a:pPr>
              <a:spcBef>
                <a:spcPts val="1200"/>
              </a:spcBef>
              <a:defRPr sz="1600" b="1"/>
            </a:pPr>
            <a:r>
              <a:t>Melting Conditions</a:t>
            </a:r>
          </a:p>
          <a:p>
            <a:pPr>
              <a:defRPr sz="1400"/>
            </a:pPr>
            <a:r>
              <a:t>     Lock Temperature to 90% and observe</a:t>
            </a:r>
          </a:p>
          <a:p>
            <a:br/>
            <a:pPr>
              <a:defRPr sz="1600" b="1">
                <a:solidFill>
                  <a:srgbClr val="2E86AB"/>
                </a:solidFill>
              </a:defRPr>
            </a:pPr>
            <a:r>
              <a:t>Watch the activity graphs change!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920240"/>
            <a:ext cx="3931920" cy="3840480"/>
          </a:xfrm>
          <a:prstGeom prst="roundRect">
            <a:avLst/>
          </a:prstGeom>
          <a:solidFill>
            <a:srgbClr val="F0F5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3657600"/>
            <a:ext cx="3566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666666"/>
                </a:solidFill>
              </a:defRPr>
            </a:pPr>
            <a:r>
              <a:t>[ModelIt Platform Screenshot - Simulation Results]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0D1B2A"/>
                </a:solidFill>
              </a:defRPr>
            </a:pPr>
            <a:r>
              <a:t>What Did We Discover?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4780"/>
                </a:solidFill>
              </a:defRPr>
            </a:pPr>
            <a:r>
              <a:t>Our Model Showed Us:</a:t>
            </a:r>
          </a:p>
          <a:p>
            <a:pPr>
              <a:spcBef>
                <a:spcPts val="1000"/>
              </a:spcBef>
              <a:defRPr sz="1500">
                <a:solidFill>
                  <a:srgbClr val="1A1A2E"/>
                </a:solidFill>
              </a:defRPr>
            </a:pPr>
            <a:r>
              <a:t>  *  Mass is conserved - it doesn't disappear when ice melts</a:t>
            </a:r>
          </a:p>
          <a:p>
            <a:pPr>
              <a:spcBef>
                <a:spcPts val="1000"/>
              </a:spcBef>
              <a:defRPr sz="1500">
                <a:solidFill>
                  <a:srgbClr val="1A1A2E"/>
                </a:solidFill>
              </a:defRPr>
            </a:pPr>
            <a:r>
              <a:t>  *  Ice Amount and Liquid Water Amount are mirror images of each other</a:t>
            </a:r>
          </a:p>
          <a:p>
            <a:pPr>
              <a:spcBef>
                <a:spcPts val="1000"/>
              </a:spcBef>
              <a:defRPr sz="1500">
                <a:solidFill>
                  <a:srgbClr val="1A1A2E"/>
                </a:solidFill>
              </a:defRPr>
            </a:pPr>
            <a:r>
              <a:t>  *  Starting Mass stays completely flat regardless of temperature</a:t>
            </a:r>
          </a:p>
          <a:p>
            <a:pPr>
              <a:spcBef>
                <a:spcPts val="1000"/>
              </a:spcBef>
              <a:defRPr sz="1500">
                <a:solidFill>
                  <a:srgbClr val="1A1A2E"/>
                </a:solidFill>
              </a:defRPr>
            </a:pPr>
            <a:r>
              <a:t>  *  State changes are physical changes that conserve mass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2E86AB"/>
                </a:solidFill>
              </a:defRPr>
            </a:pPr>
            <a:r>
              <a:t>Answer: The mass never goes anywhere - it just changes form from solid to liquid! Ice and liquid water are the same matter in different states.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2286000"/>
            <a:ext cx="3017520" cy="2743200"/>
          </a:xfrm>
          <a:prstGeom prst="roundRect">
            <a:avLst/>
          </a:prstGeom>
          <a:solidFill>
            <a:srgbClr val="F0F5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D1B2A"/>
                </a:solidFill>
              </a:defRPr>
            </a:pPr>
            <a:r>
              <a:t>Solve the Burning Mystery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67E22"/>
                </a:solidFill>
              </a:defRPr>
            </a:pPr>
            <a:r>
              <a:t>YOUR ENGINEERING MISSION</a:t>
            </a:r>
          </a:p>
          <a:p>
            <a:pPr>
              <a:spcBef>
                <a:spcPts val="1000"/>
              </a:spcBef>
              <a:defRPr sz="1400"/>
            </a:pPr>
            <a:r>
              <a:t>Explain where the 'missing' mass goes when wood burns and only ash remains.</a:t>
            </a:r>
          </a:p>
          <a:p>
            <a:br/>
            <a:pPr>
              <a:spcBef>
                <a:spcPts val="1000"/>
              </a:spcBef>
              <a:defRPr sz="1600" b="1">
                <a:solidFill>
                  <a:srgbClr val="1A4780"/>
                </a:solidFill>
              </a:defRPr>
            </a:pPr>
            <a:r>
              <a:t>Think Like an Engineer:</a:t>
            </a:r>
          </a:p>
          <a:p>
            <a:pPr>
              <a:spcBef>
                <a:spcPts val="400"/>
              </a:spcBef>
              <a:defRPr sz="1300"/>
            </a:pPr>
            <a:r>
              <a:t>     *  Is burning a physical change or a chemical change?</a:t>
            </a:r>
          </a:p>
          <a:p>
            <a:pPr>
              <a:spcBef>
                <a:spcPts val="400"/>
              </a:spcBef>
              <a:defRPr sz="1300"/>
            </a:pPr>
            <a:r>
              <a:t>     *  What gases are released when wood burns?</a:t>
            </a:r>
          </a:p>
          <a:p>
            <a:pPr>
              <a:spcBef>
                <a:spcPts val="400"/>
              </a:spcBef>
              <a:defRPr sz="1300"/>
            </a:pPr>
            <a:r>
              <a:t>     *  How could you prove the mass wasn't destroyed?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2286000"/>
            <a:ext cx="3474720" cy="3200400"/>
          </a:xfrm>
          <a:prstGeom prst="roundRect">
            <a:avLst/>
          </a:prstGeom>
          <a:solidFill>
            <a:srgbClr val="F0F5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760720"/>
            <a:ext cx="8229600" cy="868680"/>
          </a:xfrm>
          <a:prstGeom prst="rect">
            <a:avLst/>
          </a:prstGeom>
          <a:solidFill>
            <a:srgbClr val="1A237E"/>
          </a:solidFill>
        </p:spPr>
        <p:txBody>
          <a:bodyPr wrap="square" lIns="101600" tIns="50800">
            <a:spAutoFit/>
          </a:bodyPr>
          <a:lstStyle/>
          <a:p>
            <a:pPr>
              <a:defRPr sz="1100" b="1">
                <a:solidFill>
                  <a:srgbClr val="FFA500"/>
                </a:solidFill>
              </a:defRPr>
            </a:pPr>
            <a:r>
              <a:t>REAL CAREER CONNECTION:  </a:t>
            </a:r>
            <a:r>
              <a:rPr sz="1100" b="0">
                <a:solidFill>
                  <a:srgbClr val="FFFFFF"/>
                </a:solidFill>
              </a:rPr>
              <a:t>Forensic Chemists use conservation of matter to solve crimes - they can reconstruct what substances were present at crime scenes. They earn $65,000-$100,000/year.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