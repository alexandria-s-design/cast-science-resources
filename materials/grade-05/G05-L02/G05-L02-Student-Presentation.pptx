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10800000">
            <a:off x="5943600" y="54864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4114800" y="612648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3657600" y="576072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914400"/>
            <a:ext cx="5029200" cy="502920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86AB"/>
                </a:solidFill>
                <a:latin typeface="Comic Sans MS"/>
              </a:defRPr>
            </a:pPr>
            <a:r>
              <a:t>ModelIt!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D1B2A"/>
                </a:solidFill>
              </a:defRPr>
            </a:pPr>
            <a:r>
              <a:t>Nature's Recycling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2E86AB"/>
                </a:solidFill>
              </a:defRPr>
            </a:pPr>
            <a:r>
              <a:t>Why Earth Doesn't Fill Up with Dead Stuff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148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G05-L02  |  5-LS2-1  |  5th Grade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303520"/>
            <a:ext cx="2286000" cy="822960"/>
          </a:xfrm>
          <a:prstGeom prst="roundRect">
            <a:avLst/>
          </a:prstGeom>
          <a:solidFill>
            <a:srgbClr val="5DB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" y="553212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19" y="5440680"/>
            <a:ext cx="1554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B2A"/>
                </a:solidFill>
                <a:latin typeface="Comic Sans MS"/>
              </a:defRPr>
            </a:pPr>
            <a:r>
              <a:t>ModelIt!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80" y="1097280"/>
            <a:ext cx="3657600" cy="530352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D1B2A"/>
                </a:solidFill>
              </a:defRPr>
            </a:pPr>
            <a:r>
              <a:t>Learning Objectives &amp; Key Vocabulary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4780"/>
                </a:solidFill>
              </a:defRPr>
            </a:pPr>
            <a:r>
              <a:t>Learning Goals</a:t>
            </a:r>
          </a:p>
          <a:p>
            <a:pPr>
              <a:spcBef>
                <a:spcPts val="800"/>
              </a:spcBef>
              <a:defRPr sz="1300">
                <a:solidFill>
                  <a:srgbClr val="1A1A2E"/>
                </a:solidFill>
              </a:defRPr>
            </a:pPr>
            <a:r>
              <a:t>  *  Identify decomposers as a key component of matter cycling</a:t>
            </a:r>
          </a:p>
          <a:p>
            <a:pPr>
              <a:spcBef>
                <a:spcPts val="800"/>
              </a:spcBef>
              <a:defRPr sz="1300">
                <a:solidFill>
                  <a:srgbClr val="1A1A2E"/>
                </a:solidFill>
              </a:defRPr>
            </a:pPr>
            <a:r>
              <a:t>  *  Model how soil moisture and organic matter affect decomposer activity</a:t>
            </a:r>
          </a:p>
          <a:p>
            <a:pPr>
              <a:spcBef>
                <a:spcPts val="800"/>
              </a:spcBef>
              <a:defRPr sz="1300">
                <a:solidFill>
                  <a:srgbClr val="1A1A2E"/>
                </a:solidFill>
              </a:defRPr>
            </a:pPr>
            <a:r>
              <a:t>  *  Trace how dead matter is converted into nutrients for living plants</a:t>
            </a:r>
          </a:p>
          <a:p>
            <a:pPr>
              <a:spcBef>
                <a:spcPts val="800"/>
              </a:spcBef>
              <a:defRPr sz="1300">
                <a:solidFill>
                  <a:srgbClr val="1A1A2E"/>
                </a:solidFill>
              </a:defRPr>
            </a:pPr>
            <a:r>
              <a:t>  *  Predict what happens when decomposer activity slows 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9202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4780"/>
                </a:solidFill>
              </a:defRPr>
            </a:pPr>
            <a:r>
              <a:t>Key Vocabulary</a:t>
            </a:r>
          </a:p>
          <a:p>
            <a:pPr>
              <a:spcBef>
                <a:spcPts val="800"/>
              </a:spcBef>
              <a:defRPr sz="1300" b="1">
                <a:solidFill>
                  <a:srgbClr val="0D1B2A"/>
                </a:solidFill>
              </a:defRPr>
            </a:pPr>
            <a:r>
              <a:t>  Decomposer: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     An organism that breaks down dead organic material</a:t>
            </a:r>
          </a:p>
          <a:p>
            <a:pPr>
              <a:spcBef>
                <a:spcPts val="800"/>
              </a:spcBef>
              <a:defRPr sz="1300" b="1">
                <a:solidFill>
                  <a:srgbClr val="0D1B2A"/>
                </a:solidFill>
              </a:defRPr>
            </a:pPr>
            <a:r>
              <a:t>  Nutrient: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     Minerals and compounds that living things need to grow</a:t>
            </a:r>
          </a:p>
          <a:p>
            <a:pPr>
              <a:spcBef>
                <a:spcPts val="800"/>
              </a:spcBef>
              <a:defRPr sz="1300" b="1">
                <a:solidFill>
                  <a:srgbClr val="0D1B2A"/>
                </a:solidFill>
              </a:defRPr>
            </a:pPr>
            <a:r>
              <a:t>  Organic Matter: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     Any material that came from a living organism</a:t>
            </a:r>
          </a:p>
          <a:p>
            <a:pPr>
              <a:spcBef>
                <a:spcPts val="800"/>
              </a:spcBef>
              <a:defRPr sz="1300" b="1">
                <a:solidFill>
                  <a:srgbClr val="0D1B2A"/>
                </a:solidFill>
              </a:defRPr>
            </a:pPr>
            <a:r>
              <a:t>  Matter Cycle: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     The movement of matter through an ecosystem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D1B2A"/>
                </a:solidFill>
              </a:defRPr>
            </a:pPr>
            <a:r>
              <a:t>The Big Question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8229600" cy="1645920"/>
          </a:xfrm>
          <a:prstGeom prst="roundRect">
            <a:avLst/>
          </a:prstGeom>
          <a:solidFill>
            <a:srgbClr val="E8F4F8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D1B2A"/>
                </a:solidFill>
              </a:defRPr>
            </a:pPr>
            <a:r>
              <a:t>Why doesn't Earth fill up with dead stuff?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2E86AB"/>
                </a:solidFill>
              </a:defRPr>
            </a:pPr>
            <a:r>
              <a:t>By the end of today, your model will answer this question!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3474720"/>
            <a:ext cx="3657600" cy="320040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D1B2A"/>
                </a:solidFill>
              </a:defRPr>
            </a:pPr>
            <a:r>
              <a:t>Today We Build a Model!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 b="1">
                <a:solidFill>
                  <a:srgbClr val="1A4780"/>
                </a:solidFill>
              </a:defRPr>
            </a:pPr>
            <a:r>
              <a:t>L - LOCATE</a:t>
            </a:r>
          </a:p>
          <a:p>
            <a:pPr>
              <a:defRPr sz="1400">
                <a:solidFill>
                  <a:srgbClr val="1A1A2E"/>
                </a:solidFill>
              </a:defRPr>
            </a:pPr>
            <a:r>
              <a:t>   Find the system's components</a:t>
            </a:r>
          </a:p>
          <a:p>
            <a:pPr>
              <a:spcBef>
                <a:spcPts val="1000"/>
              </a:spcBef>
              <a:defRPr sz="1800" b="1">
                <a:solidFill>
                  <a:srgbClr val="1A4780"/>
                </a:solidFill>
              </a:defRPr>
            </a:pPr>
            <a:r>
              <a:t>E - ESTABLISH</a:t>
            </a:r>
          </a:p>
          <a:p>
            <a:pPr>
              <a:defRPr sz="1400">
                <a:solidFill>
                  <a:srgbClr val="1A1A2E"/>
                </a:solidFill>
              </a:defRPr>
            </a:pPr>
            <a:r>
              <a:t>   Map out how parts connect</a:t>
            </a:r>
          </a:p>
          <a:p>
            <a:pPr>
              <a:spcBef>
                <a:spcPts val="1000"/>
              </a:spcBef>
              <a:defRPr sz="1800" b="1">
                <a:solidFill>
                  <a:srgbClr val="1A4780"/>
                </a:solidFill>
              </a:defRPr>
            </a:pPr>
            <a:r>
              <a:t>V - VISUALIZE</a:t>
            </a:r>
          </a:p>
          <a:p>
            <a:pPr>
              <a:defRPr sz="1400">
                <a:solidFill>
                  <a:srgbClr val="1A1A2E"/>
                </a:solidFill>
              </a:defRPr>
            </a:pPr>
            <a:r>
              <a:t>   Build your model in ModelIt!</a:t>
            </a:r>
          </a:p>
          <a:p>
            <a:pPr>
              <a:spcBef>
                <a:spcPts val="1000"/>
              </a:spcBef>
              <a:defRPr sz="1800" b="1">
                <a:solidFill>
                  <a:srgbClr val="1A4780"/>
                </a:solidFill>
              </a:defRPr>
            </a:pPr>
            <a:r>
              <a:t>E - EVALUATE</a:t>
            </a:r>
          </a:p>
          <a:p>
            <a:pPr>
              <a:defRPr sz="1400">
                <a:solidFill>
                  <a:srgbClr val="1A1A2E"/>
                </a:solidFill>
              </a:defRPr>
            </a:pPr>
            <a:r>
              <a:t>   Run simulations and observe</a:t>
            </a:r>
          </a:p>
          <a:p>
            <a:pPr>
              <a:spcBef>
                <a:spcPts val="1000"/>
              </a:spcBef>
              <a:defRPr sz="1800" b="1">
                <a:solidFill>
                  <a:srgbClr val="1A4780"/>
                </a:solidFill>
              </a:defRPr>
            </a:pPr>
            <a:r>
              <a:t>R - REVISE</a:t>
            </a:r>
          </a:p>
          <a:p>
            <a:pPr>
              <a:defRPr sz="1400">
                <a:solidFill>
                  <a:srgbClr val="1A1A2E"/>
                </a:solidFill>
              </a:defRPr>
            </a:pPr>
            <a:r>
              <a:t>   Improve your model with new 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920240"/>
            <a:ext cx="3474720" cy="365760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D1B2A"/>
                </a:solidFill>
              </a:defRPr>
            </a:pPr>
            <a:r>
              <a:t>Activity 1: Sort the Components!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4780"/>
                </a:solidFill>
              </a:defRPr>
            </a:pPr>
            <a:r>
              <a:t>Our system has 4 components:</a:t>
            </a:r>
          </a:p>
          <a:p>
            <a:pPr>
              <a:spcBef>
                <a:spcPts val="800"/>
              </a:spcBef>
              <a:defRPr sz="1600" b="1">
                <a:solidFill>
                  <a:srgbClr val="0D1B2A"/>
                </a:solidFill>
              </a:defRPr>
            </a:pPr>
            <a:r>
              <a:t>  *  Dead Organic Matter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     Leaves, fallen trees, dead animals that decomposers break down</a:t>
            </a:r>
          </a:p>
          <a:p>
            <a:pPr>
              <a:spcBef>
                <a:spcPts val="800"/>
              </a:spcBef>
              <a:defRPr sz="1600" b="1">
                <a:solidFill>
                  <a:srgbClr val="0D1B2A"/>
                </a:solidFill>
              </a:defRPr>
            </a:pPr>
            <a:r>
              <a:t>  *  Soil Moisture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     Water content that enables decomposer survival</a:t>
            </a:r>
          </a:p>
          <a:p>
            <a:pPr>
              <a:spcBef>
                <a:spcPts val="800"/>
              </a:spcBef>
              <a:defRPr sz="1600" b="1">
                <a:solidFill>
                  <a:srgbClr val="0D1B2A"/>
                </a:solidFill>
              </a:defRPr>
            </a:pPr>
            <a:r>
              <a:t>  *  Decomposer Activity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     Bacteria, fungi, worms actively breaking down dead material</a:t>
            </a:r>
          </a:p>
          <a:p>
            <a:pPr>
              <a:spcBef>
                <a:spcPts val="800"/>
              </a:spcBef>
              <a:defRPr sz="1600" b="1">
                <a:solidFill>
                  <a:srgbClr val="0D1B2A"/>
                </a:solidFill>
              </a:defRPr>
            </a:pPr>
            <a:r>
              <a:t>  *  Nutrient Release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     Nitrogen, phosphorus, carbon returning to soil for plants</a:t>
            </a:r>
          </a:p>
          <a:p>
            <a:pPr>
              <a:spcBef>
                <a:spcPts val="1400"/>
              </a:spcBef>
            </a:pPr>
          </a:p>
          <a:p>
            <a:pPr>
              <a:defRPr sz="1500" b="1">
                <a:solidFill>
                  <a:srgbClr val="E67E22"/>
                </a:solidFill>
              </a:defRPr>
            </a:pPr>
            <a:r>
              <a:t>Sort them: EXTERNAL vs INTERNAL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920240"/>
            <a:ext cx="3474720" cy="411480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D1B2A"/>
                </a:solidFill>
              </a:defRPr>
            </a:pPr>
            <a:r>
              <a:t>Activity 2: Connect with Arrows!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/>
            </a:pPr>
            <a:r>
              <a:t>Draw arrows to show HOW components affect each other:</a:t>
            </a:r>
          </a:p>
          <a:p>
            <a:pPr>
              <a:spcBef>
                <a:spcPts val="1400"/>
              </a:spcBef>
              <a:defRPr sz="1600" b="1">
                <a:solidFill>
                  <a:srgbClr val="228B22"/>
                </a:solidFill>
              </a:defRPr>
            </a:pPr>
            <a:r>
              <a:t>(+) POSITIVE Relationship</a:t>
            </a:r>
          </a:p>
          <a:p>
            <a:pPr>
              <a:defRPr sz="1400"/>
            </a:pPr>
            <a:r>
              <a:t>     When one goes UP, the other goes UP too</a:t>
            </a:r>
          </a:p>
          <a:p>
            <a:pPr>
              <a:spcBef>
                <a:spcPts val="1400"/>
              </a:spcBef>
              <a:defRPr sz="1600" b="1">
                <a:solidFill>
                  <a:srgbClr val="DC143C"/>
                </a:solidFill>
              </a:defRPr>
            </a:pPr>
            <a:r>
              <a:t>(-) NEGATIVE Relationship</a:t>
            </a:r>
          </a:p>
          <a:p>
            <a:pPr>
              <a:defRPr sz="1400"/>
            </a:pPr>
            <a:r>
              <a:t>     When one goes UP, the other goes 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4780"/>
                </a:solidFill>
              </a:defRPr>
            </a:pPr>
            <a:r>
              <a:t>Think About It:</a:t>
            </a:r>
          </a:p>
          <a:p>
            <a:pPr>
              <a:spcBef>
                <a:spcPts val="600"/>
              </a:spcBef>
              <a:defRPr sz="1500" i="1"/>
            </a:pPr>
            <a:r>
              <a:t>When there's more dead organic matter, do decomposers have more or less work to do?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2286000"/>
            <a:ext cx="3474720" cy="292608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D1B2A"/>
                </a:solidFill>
              </a:defRPr>
            </a:pPr>
            <a:r>
              <a:t>Activity 3: Run the Simulation!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4780"/>
                </a:solidFill>
              </a:defRPr>
            </a:pPr>
            <a:r>
              <a:t>Test these scenarios in ModelIt!</a:t>
            </a:r>
          </a:p>
          <a:p>
            <a:pPr>
              <a:spcBef>
                <a:spcPts val="1200"/>
              </a:spcBef>
              <a:defRPr sz="1600" b="1"/>
            </a:pPr>
            <a:r>
              <a:t>Healthy Ecosystem</a:t>
            </a:r>
          </a:p>
          <a:p>
            <a:pPr>
              <a:defRPr sz="1400"/>
            </a:pPr>
            <a:r>
              <a:t>     Set Dead Organic Matter and Soil Moisture to normal levels</a:t>
            </a:r>
          </a:p>
          <a:p>
            <a:pPr>
              <a:spcBef>
                <a:spcPts val="1200"/>
              </a:spcBef>
              <a:defRPr sz="1600" b="1"/>
            </a:pPr>
            <a:r>
              <a:t>Drought Conditions</a:t>
            </a:r>
          </a:p>
          <a:p>
            <a:pPr>
              <a:defRPr sz="1400"/>
            </a:pPr>
            <a:r>
              <a:t>     Lock Soil Moisture to 0% and observe what happens</a:t>
            </a:r>
          </a:p>
          <a:p>
            <a:pPr>
              <a:spcBef>
                <a:spcPts val="1200"/>
              </a:spcBef>
              <a:defRPr sz="1600" b="1"/>
            </a:pPr>
            <a:r>
              <a:t>Recovery Phase</a:t>
            </a:r>
          </a:p>
          <a:p>
            <a:pPr>
              <a:defRPr sz="1400"/>
            </a:pPr>
            <a:r>
              <a:t>     Unlock Soil Moisture and watch the system recover</a:t>
            </a:r>
          </a:p>
          <a:p>
            <a:br/>
            <a:pPr>
              <a:defRPr sz="1600" b="1">
                <a:solidFill>
                  <a:srgbClr val="2E86AB"/>
                </a:solidFill>
              </a:defRPr>
            </a:pPr>
            <a:r>
              <a:t>Watch the activity graphs change!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920240"/>
            <a:ext cx="3931920" cy="384048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3657600"/>
            <a:ext cx="3566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66666"/>
                </a:solidFill>
              </a:defRPr>
            </a:pPr>
            <a:r>
              <a:t>[ModelIt Platform Screenshot - Simulation Results]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D1B2A"/>
                </a:solidFill>
              </a:defRPr>
            </a:pPr>
            <a:r>
              <a:t>What Did We Discover?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4780"/>
                </a:solidFill>
              </a:defRPr>
            </a:pPr>
            <a:r>
              <a:t>Our Model Showed Us:</a:t>
            </a:r>
          </a:p>
          <a:p>
            <a:pPr>
              <a:spcBef>
                <a:spcPts val="1000"/>
              </a:spcBef>
              <a:defRPr sz="1500">
                <a:solidFill>
                  <a:srgbClr val="1A1A2E"/>
                </a:solidFill>
              </a:defRPr>
            </a:pPr>
            <a:r>
              <a:t>  *  Decomposers need both food (organic matter) AND moisture to work</a:t>
            </a:r>
          </a:p>
          <a:p>
            <a:pPr>
              <a:spcBef>
                <a:spcPts val="1000"/>
              </a:spcBef>
              <a:defRPr sz="1500">
                <a:solidFill>
                  <a:srgbClr val="1A1A2E"/>
                </a:solidFill>
              </a:defRPr>
            </a:pPr>
            <a:r>
              <a:t>  *  When conditions are right, nutrient release keeps pace with dead matter input</a:t>
            </a:r>
          </a:p>
          <a:p>
            <a:pPr>
              <a:spcBef>
                <a:spcPts val="1000"/>
              </a:spcBef>
              <a:defRPr sz="1500">
                <a:solidFill>
                  <a:srgbClr val="1A1A2E"/>
                </a:solidFill>
              </a:defRPr>
            </a:pPr>
            <a:r>
              <a:t>  *  Drought causes dead matter to pile up because decomposers can't work</a:t>
            </a:r>
          </a:p>
          <a:p>
            <a:pPr>
              <a:spcBef>
                <a:spcPts val="1000"/>
              </a:spcBef>
              <a:defRPr sz="1500">
                <a:solidFill>
                  <a:srgbClr val="1A1A2E"/>
                </a:solidFill>
              </a:defRPr>
            </a:pPr>
            <a:r>
              <a:t>  *  The system recovers when moisture returns, but not instantly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E86AB"/>
                </a:solidFill>
              </a:defRPr>
            </a:pPr>
            <a:r>
              <a:t>Answer: Decomposers break down all the dead stuff and release nutrients back into the soil for living things to use!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2286000"/>
            <a:ext cx="3017520" cy="274320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D1B2A"/>
                </a:solidFill>
              </a:defRPr>
            </a:pPr>
            <a:r>
              <a:t>Design a Better Compost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67E22"/>
                </a:solidFill>
              </a:defRPr>
            </a:pPr>
            <a:r>
              <a:t>YOUR ENGINEERING MISSION</a:t>
            </a:r>
          </a:p>
          <a:p>
            <a:pPr>
              <a:spcBef>
                <a:spcPts val="1000"/>
              </a:spcBef>
              <a:defRPr sz="1400"/>
            </a:pPr>
            <a:r>
              <a:t>Design a backyard composting system that maximizes decomposer activity year-round.</a:t>
            </a:r>
          </a:p>
          <a:p>
            <a:br/>
            <a:pPr>
              <a:spcBef>
                <a:spcPts val="1000"/>
              </a:spcBef>
              <a:defRPr sz="1600" b="1">
                <a:solidFill>
                  <a:srgbClr val="1A4780"/>
                </a:solidFill>
              </a:defRPr>
            </a:pPr>
            <a:r>
              <a:t>Think Like an Engineer:</a:t>
            </a:r>
          </a:p>
          <a:p>
            <a:pPr>
              <a:spcBef>
                <a:spcPts val="400"/>
              </a:spcBef>
              <a:defRPr sz="1300"/>
            </a:pPr>
            <a:r>
              <a:t>     *  What conditions do decomposers need to work effectively?</a:t>
            </a:r>
          </a:p>
          <a:p>
            <a:pPr>
              <a:spcBef>
                <a:spcPts val="400"/>
              </a:spcBef>
              <a:defRPr sz="1300"/>
            </a:pPr>
            <a:r>
              <a:t>     *  How will you maintain moisture in dry weather?</a:t>
            </a:r>
          </a:p>
          <a:p>
            <a:pPr>
              <a:spcBef>
                <a:spcPts val="400"/>
              </a:spcBef>
              <a:defRPr sz="1300"/>
            </a:pPr>
            <a:r>
              <a:t>     *  What materials break down fastest? Slowest?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2286000"/>
            <a:ext cx="3474720" cy="320040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760720"/>
            <a:ext cx="8229600" cy="868680"/>
          </a:xfrm>
          <a:prstGeom prst="rect">
            <a:avLst/>
          </a:prstGeom>
          <a:solidFill>
            <a:srgbClr val="1A237E"/>
          </a:solidFill>
        </p:spPr>
        <p:txBody>
          <a:bodyPr wrap="square" lIns="101600" tIns="50800">
            <a:spAutoFit/>
          </a:bodyPr>
          <a:lstStyle/>
          <a:p>
            <a:pPr>
              <a:defRPr sz="1100" b="1">
                <a:solidFill>
                  <a:srgbClr val="FFA500"/>
                </a:solidFill>
              </a:defRPr>
            </a:pPr>
            <a:r>
              <a:t>REAL CAREER CONNECTION:  </a:t>
            </a:r>
            <a:r>
              <a:rPr sz="1100" b="0">
                <a:solidFill>
                  <a:srgbClr val="FFFFFF"/>
                </a:solidFill>
              </a:rPr>
              <a:t>Soil Scientists and Bioremediation Specialists use decomposers to clean up contaminated sites and restore damaged soil. They earn $75,000-$120,000/year.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